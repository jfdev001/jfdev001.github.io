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xml.rels" ContentType="application/vnd.openxmlformats-package.relationships+xml"/>
  <Override PartName="/ppt/notesSlides/notesSlide1.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jpeg" ContentType="image/jpeg"/>
  <Override PartName="/ppt/media/image5.png" ContentType="image/png"/>
  <Override PartName="/ppt/media/image2.png" ContentType="image/png"/>
  <Override PartName="/ppt/media/image3.png" ContentType="image/png"/>
  <Override PartName="/ppt/media/image4.png" ContentType="image/png"/>
  <Override PartName="/ppt/media/image6.png" ContentType="image/png"/>
  <Override PartName="/ppt/media/image7.png" ContentType="image/png"/>
  <Override PartName="/ppt/media/image8.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1.xml.rels" ContentType="application/vnd.openxmlformats-package.relationships+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Lst>
  <p:sldSz cx="42803763" cy="30275213"/>
  <p:notesSz cx="9928225" cy="6797675"/>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US" sz="4400" spc="-1" strike="noStrike">
                <a:latin typeface="Arial"/>
              </a:rPr>
              <a:t>Click to move the slide</a:t>
            </a:r>
            <a:endParaRPr b="0" lang="en-US" sz="4400" spc="-1" strike="noStrike">
              <a:latin typeface="Arial"/>
            </a:endParaRPr>
          </a:p>
        </p:txBody>
      </p:sp>
      <p:sp>
        <p:nvSpPr>
          <p:cNvPr id="42"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Click to edit the notes format</a:t>
            </a:r>
            <a:endParaRPr b="0" lang="en-US" sz="2000" spc="-1" strike="noStrike">
              <a:latin typeface="Arial"/>
            </a:endParaRPr>
          </a:p>
        </p:txBody>
      </p:sp>
      <p:sp>
        <p:nvSpPr>
          <p:cNvPr id="43"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44" name="PlaceHolder 4"/>
          <p:cNvSpPr>
            <a:spLocks noGrp="1"/>
          </p:cNvSpPr>
          <p:nvPr>
            <p:ph type="dt" idx="4"/>
          </p:nvPr>
        </p:nvSpPr>
        <p:spPr>
          <a:xfrm>
            <a:off x="4278960" y="0"/>
            <a:ext cx="3280680" cy="53424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45" name="PlaceHolder 5"/>
          <p:cNvSpPr>
            <a:spLocks noGrp="1"/>
          </p:cNvSpPr>
          <p:nvPr>
            <p:ph type="ftr" idx="5"/>
          </p:nvPr>
        </p:nvSpPr>
        <p:spPr>
          <a:xfrm>
            <a:off x="0" y="10157400"/>
            <a:ext cx="3280680" cy="53424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46" name="PlaceHolder 6"/>
          <p:cNvSpPr>
            <a:spLocks noGrp="1"/>
          </p:cNvSpPr>
          <p:nvPr>
            <p:ph type="sldNum" idx="6"/>
          </p:nvPr>
        </p:nvSpPr>
        <p:spPr>
          <a:xfrm>
            <a:off x="4278960" y="10157400"/>
            <a:ext cx="3280680" cy="53424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25493D29-A220-4EC2-9A53-88BAF2B34FCF}"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sldNum" idx="7"/>
          </p:nvPr>
        </p:nvSpPr>
        <p:spPr>
          <a:xfrm>
            <a:off x="5622480" y="6456240"/>
            <a:ext cx="4302720" cy="338760"/>
          </a:xfrm>
          <a:prstGeom prst="rect">
            <a:avLst/>
          </a:prstGeom>
          <a:noFill/>
          <a:ln w="0">
            <a:noFill/>
          </a:ln>
        </p:spPr>
        <p:txBody>
          <a:bodyPr numCol="1" spcCol="0" lIns="0" rIns="0" tIns="0" bIns="0" anchor="b">
            <a:noAutofit/>
          </a:bodyPr>
          <a:lstStyle>
            <a:lvl1pPr algn="r">
              <a:lnSpc>
                <a:spcPct val="100000"/>
              </a:lnSpc>
              <a:buNone/>
              <a:tabLst>
                <a:tab algn="l" pos="0"/>
              </a:tabLst>
              <a:defRPr b="0" lang="de-DE" sz="1200" spc="-1" strike="noStrike">
                <a:solidFill>
                  <a:srgbClr val="000000"/>
                </a:solidFill>
                <a:latin typeface="Times New Roman"/>
              </a:defRPr>
            </a:lvl1pPr>
          </a:lstStyle>
          <a:p>
            <a:pPr algn="r">
              <a:lnSpc>
                <a:spcPct val="100000"/>
              </a:lnSpc>
              <a:buNone/>
              <a:tabLst>
                <a:tab algn="l" pos="0"/>
              </a:tabLst>
            </a:pPr>
            <a:fld id="{BDA9E39E-CF53-4223-B4B0-17A799952107}" type="slidenum">
              <a:rPr b="0" lang="de-DE" sz="1200" spc="-1" strike="noStrike">
                <a:solidFill>
                  <a:srgbClr val="000000"/>
                </a:solidFill>
                <a:latin typeface="Times New Roman"/>
              </a:rPr>
              <a:t>&lt;number&gt;</a:t>
            </a:fld>
            <a:endParaRPr b="0" lang="en-US" sz="1200" spc="-1" strike="noStrike">
              <a:latin typeface="Times New Roman"/>
            </a:endParaRPr>
          </a:p>
        </p:txBody>
      </p:sp>
      <p:sp>
        <p:nvSpPr>
          <p:cNvPr id="103" name="PlaceHolder 2"/>
          <p:cNvSpPr>
            <a:spLocks noGrp="1"/>
          </p:cNvSpPr>
          <p:nvPr>
            <p:ph type="sldImg"/>
          </p:nvPr>
        </p:nvSpPr>
        <p:spPr>
          <a:xfrm>
            <a:off x="3165480" y="509760"/>
            <a:ext cx="3600360" cy="2546280"/>
          </a:xfrm>
          <a:prstGeom prst="rect">
            <a:avLst/>
          </a:prstGeom>
          <a:ln w="0">
            <a:noFill/>
          </a:ln>
        </p:spPr>
      </p:sp>
      <p:sp>
        <p:nvSpPr>
          <p:cNvPr id="104" name="PlaceHolder 3"/>
          <p:cNvSpPr>
            <a:spLocks noGrp="1"/>
          </p:cNvSpPr>
          <p:nvPr>
            <p:ph type="body"/>
          </p:nvPr>
        </p:nvSpPr>
        <p:spPr>
          <a:xfrm>
            <a:off x="992520" y="3229200"/>
            <a:ext cx="7941240" cy="3056400"/>
          </a:xfrm>
          <a:prstGeom prst="rect">
            <a:avLst/>
          </a:prstGeom>
          <a:noFill/>
          <a:ln w="0">
            <a:noFill/>
          </a:ln>
        </p:spPr>
        <p:txBody>
          <a:bodyPr numCol="1" spcCol="0" lIns="0" rIns="0" tIns="0" bIns="0" anchor="t">
            <a:noAutofit/>
          </a:bodyPr>
          <a:p>
            <a:endParaRPr b="0" lang="en-US" sz="20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31CDA6E9-4008-43A9-A24D-DB436D88935A}"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 name="PlaceHolder 2"/>
          <p:cNvSpPr>
            <a:spLocks noGrp="1"/>
          </p:cNvSpPr>
          <p:nvPr>
            <p:ph type="subTitle"/>
          </p:nvPr>
        </p:nvSpPr>
        <p:spPr>
          <a:xfrm>
            <a:off x="2139840" y="7084080"/>
            <a:ext cx="38522880" cy="1755900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C3C18D64-E239-476C-90F8-FC98FDAB09B3}"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 name="PlaceHolder 2"/>
          <p:cNvSpPr>
            <a:spLocks noGrp="1"/>
          </p:cNvSpPr>
          <p:nvPr>
            <p:ph/>
          </p:nvPr>
        </p:nvSpPr>
        <p:spPr>
          <a:xfrm>
            <a:off x="2139840" y="7084080"/>
            <a:ext cx="38522880" cy="17559000"/>
          </a:xfrm>
          <a:prstGeom prst="rect">
            <a:avLst/>
          </a:prstGeom>
          <a:noFill/>
          <a:ln w="0">
            <a:noFill/>
          </a:ln>
        </p:spPr>
        <p:txBody>
          <a:bodyPr lIns="0" rIns="0" tIns="0" bIns="0" anchor="t">
            <a:normAutofit/>
          </a:bodyPr>
          <a:p>
            <a:endParaRPr b="0" lang="en-US"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91864DE4-BF7A-45B6-951F-260E707A4AF4}"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 name="PlaceHolder 2"/>
          <p:cNvSpPr>
            <a:spLocks noGrp="1"/>
          </p:cNvSpPr>
          <p:nvPr>
            <p:ph/>
          </p:nvPr>
        </p:nvSpPr>
        <p:spPr>
          <a:xfrm>
            <a:off x="2139840" y="7084080"/>
            <a:ext cx="18798840" cy="17559000"/>
          </a:xfrm>
          <a:prstGeom prst="rect">
            <a:avLst/>
          </a:prstGeom>
          <a:noFill/>
          <a:ln w="0">
            <a:noFill/>
          </a:ln>
        </p:spPr>
        <p:txBody>
          <a:bodyPr lIns="0" rIns="0" tIns="0" bIns="0" anchor="t">
            <a:normAutofit/>
          </a:bodyPr>
          <a:p>
            <a:endParaRPr b="0" lang="en-US" sz="3200" spc="-1" strike="noStrike">
              <a:latin typeface="Arial"/>
            </a:endParaRPr>
          </a:p>
        </p:txBody>
      </p:sp>
      <p:sp>
        <p:nvSpPr>
          <p:cNvPr id="11" name="PlaceHolder 3"/>
          <p:cNvSpPr>
            <a:spLocks noGrp="1"/>
          </p:cNvSpPr>
          <p:nvPr>
            <p:ph/>
          </p:nvPr>
        </p:nvSpPr>
        <p:spPr>
          <a:xfrm>
            <a:off x="21879000" y="7084080"/>
            <a:ext cx="18798840" cy="1755900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775268FF-8449-4C74-97A5-BEAF5D6AAC3D}"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1CF05911-A935-41D1-B0D3-C7E62B0A0E8F}"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2139840" y="1207800"/>
            <a:ext cx="38522880" cy="2343564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5D0D24D3-EBAB-4BED-97E6-28F83B219647}"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5" name="PlaceHolder 2"/>
          <p:cNvSpPr>
            <a:spLocks noGrp="1"/>
          </p:cNvSpPr>
          <p:nvPr>
            <p:ph/>
          </p:nvPr>
        </p:nvSpPr>
        <p:spPr>
          <a:xfrm>
            <a:off x="213984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16" name="PlaceHolder 3"/>
          <p:cNvSpPr>
            <a:spLocks noGrp="1"/>
          </p:cNvSpPr>
          <p:nvPr>
            <p:ph/>
          </p:nvPr>
        </p:nvSpPr>
        <p:spPr>
          <a:xfrm>
            <a:off x="21879000" y="7084080"/>
            <a:ext cx="18798840" cy="17559000"/>
          </a:xfrm>
          <a:prstGeom prst="rect">
            <a:avLst/>
          </a:prstGeom>
          <a:noFill/>
          <a:ln w="0">
            <a:noFill/>
          </a:ln>
        </p:spPr>
        <p:txBody>
          <a:bodyPr lIns="0" rIns="0" tIns="0" bIns="0" anchor="t">
            <a:normAutofit/>
          </a:bodyPr>
          <a:p>
            <a:endParaRPr b="0" lang="en-US" sz="3200" spc="-1" strike="noStrike">
              <a:latin typeface="Arial"/>
            </a:endParaRPr>
          </a:p>
        </p:txBody>
      </p:sp>
      <p:sp>
        <p:nvSpPr>
          <p:cNvPr id="17" name="PlaceHolder 4"/>
          <p:cNvSpPr>
            <a:spLocks noGrp="1"/>
          </p:cNvSpPr>
          <p:nvPr>
            <p:ph/>
          </p:nvPr>
        </p:nvSpPr>
        <p:spPr>
          <a:xfrm>
            <a:off x="2139840" y="1625544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7767E9FE-87F3-419F-89AF-9F6B2EB5743C}"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9" name="PlaceHolder 2"/>
          <p:cNvSpPr>
            <a:spLocks noGrp="1"/>
          </p:cNvSpPr>
          <p:nvPr>
            <p:ph/>
          </p:nvPr>
        </p:nvSpPr>
        <p:spPr>
          <a:xfrm>
            <a:off x="2139840" y="7084080"/>
            <a:ext cx="18798840" cy="17559000"/>
          </a:xfrm>
          <a:prstGeom prst="rect">
            <a:avLst/>
          </a:prstGeom>
          <a:noFill/>
          <a:ln w="0">
            <a:noFill/>
          </a:ln>
        </p:spPr>
        <p:txBody>
          <a:bodyPr lIns="0" rIns="0" tIns="0" bIns="0" anchor="t">
            <a:normAutofit/>
          </a:bodyPr>
          <a:p>
            <a:endParaRPr b="0" lang="en-US" sz="3200" spc="-1" strike="noStrike">
              <a:latin typeface="Arial"/>
            </a:endParaRPr>
          </a:p>
        </p:txBody>
      </p:sp>
      <p:sp>
        <p:nvSpPr>
          <p:cNvPr id="20" name="PlaceHolder 3"/>
          <p:cNvSpPr>
            <a:spLocks noGrp="1"/>
          </p:cNvSpPr>
          <p:nvPr>
            <p:ph/>
          </p:nvPr>
        </p:nvSpPr>
        <p:spPr>
          <a:xfrm>
            <a:off x="2187900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21" name="PlaceHolder 4"/>
          <p:cNvSpPr>
            <a:spLocks noGrp="1"/>
          </p:cNvSpPr>
          <p:nvPr>
            <p:ph/>
          </p:nvPr>
        </p:nvSpPr>
        <p:spPr>
          <a:xfrm>
            <a:off x="21879000" y="1625544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5CA5EDE5-3423-4E14-8B3D-11960097507B}"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3" name="PlaceHolder 2"/>
          <p:cNvSpPr>
            <a:spLocks noGrp="1"/>
          </p:cNvSpPr>
          <p:nvPr>
            <p:ph/>
          </p:nvPr>
        </p:nvSpPr>
        <p:spPr>
          <a:xfrm>
            <a:off x="213984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24" name="PlaceHolder 3"/>
          <p:cNvSpPr>
            <a:spLocks noGrp="1"/>
          </p:cNvSpPr>
          <p:nvPr>
            <p:ph/>
          </p:nvPr>
        </p:nvSpPr>
        <p:spPr>
          <a:xfrm>
            <a:off x="2187900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25" name="PlaceHolder 4"/>
          <p:cNvSpPr>
            <a:spLocks noGrp="1"/>
          </p:cNvSpPr>
          <p:nvPr>
            <p:ph/>
          </p:nvPr>
        </p:nvSpPr>
        <p:spPr>
          <a:xfrm>
            <a:off x="2139840" y="16255440"/>
            <a:ext cx="38522880" cy="837540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99CA7114-FB6D-49D9-9DBA-C017368D25A1}"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7" name="PlaceHolder 2"/>
          <p:cNvSpPr>
            <a:spLocks noGrp="1"/>
          </p:cNvSpPr>
          <p:nvPr>
            <p:ph/>
          </p:nvPr>
        </p:nvSpPr>
        <p:spPr>
          <a:xfrm>
            <a:off x="2139840" y="7084080"/>
            <a:ext cx="38522880" cy="8375400"/>
          </a:xfrm>
          <a:prstGeom prst="rect">
            <a:avLst/>
          </a:prstGeom>
          <a:noFill/>
          <a:ln w="0">
            <a:noFill/>
          </a:ln>
        </p:spPr>
        <p:txBody>
          <a:bodyPr lIns="0" rIns="0" tIns="0" bIns="0" anchor="t">
            <a:normAutofit/>
          </a:bodyPr>
          <a:p>
            <a:endParaRPr b="0" lang="en-US" sz="3200" spc="-1" strike="noStrike">
              <a:latin typeface="Arial"/>
            </a:endParaRPr>
          </a:p>
        </p:txBody>
      </p:sp>
      <p:sp>
        <p:nvSpPr>
          <p:cNvPr id="28" name="PlaceHolder 3"/>
          <p:cNvSpPr>
            <a:spLocks noGrp="1"/>
          </p:cNvSpPr>
          <p:nvPr>
            <p:ph/>
          </p:nvPr>
        </p:nvSpPr>
        <p:spPr>
          <a:xfrm>
            <a:off x="2139840" y="16255440"/>
            <a:ext cx="38522880" cy="837540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25D95010-CC2F-45F0-817C-D4FC02C26F5E}"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0" name="PlaceHolder 2"/>
          <p:cNvSpPr>
            <a:spLocks noGrp="1"/>
          </p:cNvSpPr>
          <p:nvPr>
            <p:ph/>
          </p:nvPr>
        </p:nvSpPr>
        <p:spPr>
          <a:xfrm>
            <a:off x="213984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1" name="PlaceHolder 3"/>
          <p:cNvSpPr>
            <a:spLocks noGrp="1"/>
          </p:cNvSpPr>
          <p:nvPr>
            <p:ph/>
          </p:nvPr>
        </p:nvSpPr>
        <p:spPr>
          <a:xfrm>
            <a:off x="2187900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2" name="PlaceHolder 4"/>
          <p:cNvSpPr>
            <a:spLocks noGrp="1"/>
          </p:cNvSpPr>
          <p:nvPr>
            <p:ph/>
          </p:nvPr>
        </p:nvSpPr>
        <p:spPr>
          <a:xfrm>
            <a:off x="2139840" y="1625544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3" name="PlaceHolder 5"/>
          <p:cNvSpPr>
            <a:spLocks noGrp="1"/>
          </p:cNvSpPr>
          <p:nvPr>
            <p:ph/>
          </p:nvPr>
        </p:nvSpPr>
        <p:spPr>
          <a:xfrm>
            <a:off x="21879000" y="1625544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6F084C12-7034-4C21-9A9F-01105E182C0E}"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5" name="PlaceHolder 2"/>
          <p:cNvSpPr>
            <a:spLocks noGrp="1"/>
          </p:cNvSpPr>
          <p:nvPr>
            <p:ph/>
          </p:nvPr>
        </p:nvSpPr>
        <p:spPr>
          <a:xfrm>
            <a:off x="2139840" y="708408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6" name="PlaceHolder 3"/>
          <p:cNvSpPr>
            <a:spLocks noGrp="1"/>
          </p:cNvSpPr>
          <p:nvPr>
            <p:ph/>
          </p:nvPr>
        </p:nvSpPr>
        <p:spPr>
          <a:xfrm>
            <a:off x="15164640" y="708408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7" name="PlaceHolder 4"/>
          <p:cNvSpPr>
            <a:spLocks noGrp="1"/>
          </p:cNvSpPr>
          <p:nvPr>
            <p:ph/>
          </p:nvPr>
        </p:nvSpPr>
        <p:spPr>
          <a:xfrm>
            <a:off x="28189440" y="708408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8" name="PlaceHolder 5"/>
          <p:cNvSpPr>
            <a:spLocks noGrp="1"/>
          </p:cNvSpPr>
          <p:nvPr>
            <p:ph/>
          </p:nvPr>
        </p:nvSpPr>
        <p:spPr>
          <a:xfrm>
            <a:off x="2139840" y="1625544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9" name="PlaceHolder 6"/>
          <p:cNvSpPr>
            <a:spLocks noGrp="1"/>
          </p:cNvSpPr>
          <p:nvPr>
            <p:ph/>
          </p:nvPr>
        </p:nvSpPr>
        <p:spPr>
          <a:xfrm>
            <a:off x="15164640" y="1625544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40" name="PlaceHolder 7"/>
          <p:cNvSpPr>
            <a:spLocks noGrp="1"/>
          </p:cNvSpPr>
          <p:nvPr>
            <p:ph/>
          </p:nvPr>
        </p:nvSpPr>
        <p:spPr>
          <a:xfrm>
            <a:off x="28189440" y="1625544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40E42097-861C-4154-9397-5A87DCFB69B4}" type="slidenum">
              <a:t>&lt;#&gt;</a:t>
            </a:fld>
          </a:p>
        </p:txBody>
      </p:sp>
      <p:sp>
        <p:nvSpPr>
          <p:cNvPr id="11" name="PlaceHolder 10"/>
          <p:cNvSpPr>
            <a:spLocks noGrp="1"/>
          </p:cNvSpPr>
          <p:nvPr>
            <p:ph type="dt" idx="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14623920" y="27581760"/>
            <a:ext cx="13554000" cy="2016360"/>
          </a:xfrm>
          <a:prstGeom prst="rect">
            <a:avLst/>
          </a:prstGeom>
          <a:noFill/>
          <a:ln w="0">
            <a:noFill/>
          </a:ln>
        </p:spPr>
        <p:txBody>
          <a:bodyPr numCol="1" spcCol="0" lIns="407160" rIns="407160" tIns="203760" bIns="203760" anchor="t">
            <a:noAutofit/>
          </a:bodyPr>
          <a:lstStyle>
            <a:lvl1pPr algn="ctr">
              <a:lnSpc>
                <a:spcPct val="100000"/>
              </a:lnSpc>
              <a:buNone/>
              <a:tabLst>
                <a:tab algn="l" pos="0"/>
              </a:tabLst>
              <a:defRPr b="0" lang="en-US" sz="1400" spc="-1" strike="noStrike">
                <a:solidFill>
                  <a:srgbClr val="000000"/>
                </a:solidFill>
                <a:latin typeface="Times New Roman"/>
              </a:defRPr>
            </a:lvl1pPr>
          </a:lstStyle>
          <a:p>
            <a:pPr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latin typeface="Times New Roman"/>
            </a:endParaRPr>
          </a:p>
        </p:txBody>
      </p:sp>
      <p:sp>
        <p:nvSpPr>
          <p:cNvPr id="1" name="PlaceHolder 2"/>
          <p:cNvSpPr>
            <a:spLocks noGrp="1"/>
          </p:cNvSpPr>
          <p:nvPr>
            <p:ph type="sldNum" idx="2"/>
          </p:nvPr>
        </p:nvSpPr>
        <p:spPr>
          <a:xfrm>
            <a:off x="30680640" y="27581760"/>
            <a:ext cx="8914320" cy="2016360"/>
          </a:xfrm>
          <a:prstGeom prst="rect">
            <a:avLst/>
          </a:prstGeom>
          <a:noFill/>
          <a:ln w="0">
            <a:noFill/>
          </a:ln>
        </p:spPr>
        <p:txBody>
          <a:bodyPr numCol="1" spcCol="0" lIns="407160" rIns="407160" tIns="203760" bIns="203760" anchor="t">
            <a:noAutofit/>
          </a:bodyPr>
          <a:lstStyle>
            <a:lvl1pPr algn="r">
              <a:lnSpc>
                <a:spcPct val="100000"/>
              </a:lnSpc>
              <a:buNone/>
              <a:tabLst>
                <a:tab algn="l" pos="0"/>
              </a:tabLst>
              <a:defRPr b="0" lang="de-DE" sz="6060" spc="-1" strike="noStrike">
                <a:solidFill>
                  <a:srgbClr val="000000"/>
                </a:solidFill>
                <a:latin typeface="Times New Roman"/>
              </a:defRPr>
            </a:lvl1pPr>
          </a:lstStyle>
          <a:p>
            <a:pPr algn="r">
              <a:lnSpc>
                <a:spcPct val="100000"/>
              </a:lnSpc>
              <a:buNone/>
              <a:tabLst>
                <a:tab algn="l" pos="0"/>
              </a:tabLst>
            </a:pPr>
            <a:fld id="{B7EDF4EC-22CF-4ACA-8D10-0290E205F430}" type="slidenum">
              <a:rPr b="0" lang="de-DE" sz="6060" spc="-1" strike="noStrike">
                <a:solidFill>
                  <a:srgbClr val="000000"/>
                </a:solidFill>
                <a:latin typeface="Times New Roman"/>
              </a:rPr>
              <a:t>&lt;number&gt;</a:t>
            </a:fld>
            <a:endParaRPr b="0" lang="en-US" sz="6060" spc="-1" strike="noStrike">
              <a:latin typeface="Times New Roman"/>
            </a:endParaRPr>
          </a:p>
        </p:txBody>
      </p:sp>
      <p:sp>
        <p:nvSpPr>
          <p:cNvPr id="2" name="PlaceHolder 3"/>
          <p:cNvSpPr>
            <a:spLocks noGrp="1"/>
          </p:cNvSpPr>
          <p:nvPr>
            <p:ph type="dt" idx="3"/>
          </p:nvPr>
        </p:nvSpPr>
        <p:spPr>
          <a:xfrm>
            <a:off x="3206880" y="27581760"/>
            <a:ext cx="8914320" cy="2016360"/>
          </a:xfrm>
          <a:prstGeom prst="rect">
            <a:avLst/>
          </a:prstGeom>
          <a:noFill/>
          <a:ln w="0">
            <a:noFill/>
          </a:ln>
        </p:spPr>
        <p:txBody>
          <a:bodyPr numCol="1" spcCol="0" lIns="407160" rIns="407160" tIns="203760" bIns="203760" anchor="t">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3" name="PlaceHolder 4"/>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4" name="PlaceHolder 5"/>
          <p:cNvSpPr>
            <a:spLocks noGrp="1"/>
          </p:cNvSpPr>
          <p:nvPr>
            <p:ph type="body"/>
          </p:nvPr>
        </p:nvSpPr>
        <p:spPr>
          <a:xfrm>
            <a:off x="2139840" y="7084080"/>
            <a:ext cx="38522880" cy="175590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slideLayout" Target="../slideLayouts/slideLayout1.xml"/><Relationship Id="rId11" Type="http://schemas.openxmlformats.org/officeDocument/2006/relationships/notesSlide" Target="../notesSlides/notesSlide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Rectangle 81"/>
          <p:cNvSpPr/>
          <p:nvPr/>
        </p:nvSpPr>
        <p:spPr>
          <a:xfrm>
            <a:off x="1281960" y="19046520"/>
            <a:ext cx="24366600" cy="10215000"/>
          </a:xfrm>
          <a:prstGeom prst="rect">
            <a:avLst/>
          </a:prstGeom>
          <a:solidFill>
            <a:schemeClr val="bg1"/>
          </a:solidFill>
          <a:ln w="57150">
            <a:solidFill>
              <a:srgbClr val="264796"/>
            </a:solidFill>
            <a:miter/>
          </a:ln>
        </p:spPr>
        <p:style>
          <a:lnRef idx="0"/>
          <a:fillRef idx="0"/>
          <a:effectRef idx="0"/>
          <a:fontRef idx="minor"/>
        </p:style>
      </p:sp>
      <p:sp>
        <p:nvSpPr>
          <p:cNvPr id="48" name="Rectangle 66"/>
          <p:cNvSpPr/>
          <p:nvPr/>
        </p:nvSpPr>
        <p:spPr>
          <a:xfrm>
            <a:off x="1281960" y="9413640"/>
            <a:ext cx="24366600" cy="9291600"/>
          </a:xfrm>
          <a:prstGeom prst="rect">
            <a:avLst/>
          </a:prstGeom>
          <a:solidFill>
            <a:schemeClr val="bg1"/>
          </a:solidFill>
          <a:ln w="57150">
            <a:solidFill>
              <a:srgbClr val="264796"/>
            </a:solidFill>
            <a:miter/>
          </a:ln>
        </p:spPr>
        <p:style>
          <a:lnRef idx="0"/>
          <a:fillRef idx="0"/>
          <a:effectRef idx="0"/>
          <a:fontRef idx="minor"/>
        </p:style>
      </p:sp>
      <p:sp>
        <p:nvSpPr>
          <p:cNvPr id="49" name="Rectangle 36"/>
          <p:cNvSpPr/>
          <p:nvPr/>
        </p:nvSpPr>
        <p:spPr>
          <a:xfrm>
            <a:off x="1323360" y="4030200"/>
            <a:ext cx="24329880" cy="5109120"/>
          </a:xfrm>
          <a:prstGeom prst="rect">
            <a:avLst/>
          </a:prstGeom>
          <a:noFill/>
          <a:ln w="57150">
            <a:solidFill>
              <a:srgbClr val="264796"/>
            </a:solidFill>
            <a:miter/>
          </a:ln>
        </p:spPr>
        <p:style>
          <a:lnRef idx="0"/>
          <a:fillRef idx="0"/>
          <a:effectRef idx="0"/>
          <a:fontRef idx="minor"/>
        </p:style>
      </p:sp>
      <p:sp>
        <p:nvSpPr>
          <p:cNvPr id="50" name="Text Box 32"/>
          <p:cNvSpPr/>
          <p:nvPr/>
        </p:nvSpPr>
        <p:spPr>
          <a:xfrm>
            <a:off x="5715000" y="438840"/>
            <a:ext cx="32606280" cy="1241280"/>
          </a:xfrm>
          <a:prstGeom prst="rect">
            <a:avLst/>
          </a:prstGeom>
          <a:noFill/>
          <a:ln w="0">
            <a:noFill/>
          </a:ln>
        </p:spPr>
        <p:style>
          <a:lnRef idx="0"/>
          <a:fillRef idx="0"/>
          <a:effectRef idx="0"/>
          <a:fontRef idx="minor"/>
        </p:style>
        <p:txBody>
          <a:bodyPr lIns="83520" rIns="83520" tIns="41760" bIns="41760" anchor="t">
            <a:spAutoFit/>
          </a:bodyPr>
          <a:p>
            <a:pPr algn="ctr">
              <a:lnSpc>
                <a:spcPct val="100000"/>
              </a:lnSpc>
              <a:spcBef>
                <a:spcPts val="1191"/>
              </a:spcBef>
              <a:spcAft>
                <a:spcPts val="992"/>
              </a:spcAft>
              <a:buNone/>
            </a:pPr>
            <a:r>
              <a:rPr b="1" lang="en-US" sz="7600" spc="-1" strike="noStrike">
                <a:solidFill>
                  <a:srgbClr val="264796"/>
                </a:solidFill>
                <a:latin typeface="Calibri"/>
                <a:ea typeface="DejaVu Sans"/>
              </a:rPr>
              <a:t>Towards Enzyme-based AD for Tuning the ICON-XPP Model</a:t>
            </a:r>
            <a:endParaRPr b="0" lang="en-US" sz="7600" spc="-1" strike="noStrike">
              <a:latin typeface="Arial"/>
            </a:endParaRPr>
          </a:p>
        </p:txBody>
      </p:sp>
      <p:sp>
        <p:nvSpPr>
          <p:cNvPr id="51" name="Text Box 35"/>
          <p:cNvSpPr/>
          <p:nvPr/>
        </p:nvSpPr>
        <p:spPr>
          <a:xfrm>
            <a:off x="8240760" y="2064600"/>
            <a:ext cx="26425800" cy="631800"/>
          </a:xfrm>
          <a:prstGeom prst="rect">
            <a:avLst/>
          </a:prstGeom>
          <a:noFill/>
          <a:ln w="0">
            <a:noFill/>
          </a:ln>
        </p:spPr>
        <p:style>
          <a:lnRef idx="0"/>
          <a:fillRef idx="0"/>
          <a:effectRef idx="0"/>
          <a:fontRef idx="minor"/>
        </p:style>
        <p:txBody>
          <a:bodyPr lIns="83520" rIns="83520" tIns="41760" bIns="41760" anchor="t">
            <a:spAutoFit/>
          </a:bodyPr>
          <a:p>
            <a:pPr algn="ctr">
              <a:lnSpc>
                <a:spcPct val="100000"/>
              </a:lnSpc>
              <a:buNone/>
            </a:pPr>
            <a:r>
              <a:rPr b="0" lang="de-DE" sz="3600" spc="-1" strike="noStrike">
                <a:solidFill>
                  <a:srgbClr val="264796"/>
                </a:solidFill>
                <a:latin typeface="Cambria"/>
                <a:ea typeface="Cambria"/>
              </a:rPr>
              <a:t>J. Frazier, V. Venugopal, C.C. Stephan</a:t>
            </a:r>
            <a:endParaRPr b="0" lang="en-US" sz="3600" spc="-1" strike="noStrike">
              <a:latin typeface="Arial"/>
            </a:endParaRPr>
          </a:p>
        </p:txBody>
      </p:sp>
      <p:sp>
        <p:nvSpPr>
          <p:cNvPr id="52" name="Rectangle 40"/>
          <p:cNvSpPr/>
          <p:nvPr/>
        </p:nvSpPr>
        <p:spPr>
          <a:xfrm>
            <a:off x="26000280" y="24157440"/>
            <a:ext cx="15519960" cy="5103720"/>
          </a:xfrm>
          <a:prstGeom prst="rect">
            <a:avLst/>
          </a:prstGeom>
          <a:solidFill>
            <a:srgbClr val="d9d9d9">
              <a:alpha val="95000"/>
            </a:srgbClr>
          </a:solidFill>
          <a:ln w="57150">
            <a:solidFill>
              <a:srgbClr val="264796"/>
            </a:solidFill>
            <a:miter/>
          </a:ln>
        </p:spPr>
        <p:style>
          <a:lnRef idx="0"/>
          <a:fillRef idx="0"/>
          <a:effectRef idx="0"/>
          <a:fontRef idx="minor"/>
        </p:style>
      </p:sp>
      <p:sp>
        <p:nvSpPr>
          <p:cNvPr id="53" name="Rectangle 195"/>
          <p:cNvSpPr/>
          <p:nvPr/>
        </p:nvSpPr>
        <p:spPr>
          <a:xfrm>
            <a:off x="26000280" y="4030200"/>
            <a:ext cx="15519960" cy="19742760"/>
          </a:xfrm>
          <a:prstGeom prst="rect">
            <a:avLst/>
          </a:prstGeom>
          <a:solidFill>
            <a:schemeClr val="bg1"/>
          </a:solidFill>
          <a:ln w="57150">
            <a:solidFill>
              <a:srgbClr val="264796"/>
            </a:solidFill>
            <a:miter/>
          </a:ln>
        </p:spPr>
        <p:style>
          <a:lnRef idx="0"/>
          <a:fillRef idx="0"/>
          <a:effectRef idx="0"/>
          <a:fontRef idx="minor"/>
        </p:style>
      </p:sp>
      <p:sp>
        <p:nvSpPr>
          <p:cNvPr id="54" name="Text Box 223"/>
          <p:cNvSpPr/>
          <p:nvPr/>
        </p:nvSpPr>
        <p:spPr>
          <a:xfrm>
            <a:off x="26336880" y="24426720"/>
            <a:ext cx="14839200" cy="601560"/>
          </a:xfrm>
          <a:prstGeom prst="rect">
            <a:avLst/>
          </a:prstGeom>
          <a:solidFill>
            <a:srgbClr val="264796"/>
          </a:solidFill>
          <a:ln w="0">
            <a:noFill/>
          </a:ln>
        </p:spPr>
        <p:style>
          <a:lnRef idx="0"/>
          <a:fillRef idx="0"/>
          <a:effectRef idx="0"/>
          <a:fontRef idx="minor"/>
        </p:style>
        <p:txBody>
          <a:bodyPr lIns="90000" rIns="90000" tIns="45000" bIns="45000" anchor="t">
            <a:spAutoFit/>
          </a:bodyPr>
          <a:p>
            <a:pPr algn="ctr">
              <a:lnSpc>
                <a:spcPct val="100000"/>
              </a:lnSpc>
              <a:buNone/>
            </a:pPr>
            <a:r>
              <a:rPr b="1" lang="de-DE" sz="3359" spc="-1" strike="noStrike">
                <a:solidFill>
                  <a:srgbClr val="ffffff"/>
                </a:solidFill>
                <a:latin typeface="Segoe UI"/>
                <a:ea typeface="DejaVu Sans"/>
              </a:rPr>
              <a:t>References</a:t>
            </a:r>
            <a:endParaRPr b="0" lang="en-US" sz="3359" spc="-1" strike="noStrike">
              <a:latin typeface="Arial"/>
            </a:endParaRPr>
          </a:p>
        </p:txBody>
      </p:sp>
      <p:sp>
        <p:nvSpPr>
          <p:cNvPr id="55" name="Textfeld 7"/>
          <p:cNvSpPr/>
          <p:nvPr/>
        </p:nvSpPr>
        <p:spPr>
          <a:xfrm>
            <a:off x="1660320" y="4336560"/>
            <a:ext cx="23656680" cy="607320"/>
          </a:xfrm>
          <a:prstGeom prst="rect">
            <a:avLst/>
          </a:prstGeom>
          <a:solidFill>
            <a:srgbClr val="264796"/>
          </a:solidFill>
          <a:ln w="0">
            <a:noFill/>
          </a:ln>
        </p:spPr>
        <p:style>
          <a:lnRef idx="0"/>
          <a:fillRef idx="0"/>
          <a:effectRef idx="0"/>
          <a:fontRef idx="minor"/>
        </p:style>
        <p:txBody>
          <a:bodyPr lIns="90000" rIns="90000" tIns="45000" bIns="45000" anchor="t">
            <a:spAutoFit/>
          </a:bodyPr>
          <a:p>
            <a:pPr algn="ctr">
              <a:lnSpc>
                <a:spcPct val="100000"/>
              </a:lnSpc>
              <a:buNone/>
            </a:pPr>
            <a:r>
              <a:rPr b="1" lang="de-DE" sz="3400" spc="-1" strike="noStrike">
                <a:solidFill>
                  <a:srgbClr val="ffffff"/>
                </a:solidFill>
                <a:latin typeface="Segoe UI"/>
                <a:ea typeface="DejaVu Sans"/>
              </a:rPr>
              <a:t>Overview</a:t>
            </a:r>
            <a:endParaRPr b="0" lang="en-US" sz="3400" spc="-1" strike="noStrike">
              <a:latin typeface="Arial"/>
            </a:endParaRPr>
          </a:p>
        </p:txBody>
      </p:sp>
      <p:sp>
        <p:nvSpPr>
          <p:cNvPr id="56" name="Textfeld 105"/>
          <p:cNvSpPr/>
          <p:nvPr/>
        </p:nvSpPr>
        <p:spPr>
          <a:xfrm>
            <a:off x="1660320" y="9726480"/>
            <a:ext cx="23656680" cy="607320"/>
          </a:xfrm>
          <a:prstGeom prst="rect">
            <a:avLst/>
          </a:prstGeom>
          <a:solidFill>
            <a:srgbClr val="264796"/>
          </a:solidFill>
          <a:ln w="0">
            <a:noFill/>
          </a:ln>
        </p:spPr>
        <p:style>
          <a:lnRef idx="0"/>
          <a:fillRef idx="0"/>
          <a:effectRef idx="0"/>
          <a:fontRef idx="minor"/>
        </p:style>
        <p:txBody>
          <a:bodyPr lIns="90000" rIns="90000" tIns="45000" bIns="45000" anchor="t">
            <a:spAutoFit/>
          </a:bodyPr>
          <a:p>
            <a:pPr algn="ctr">
              <a:lnSpc>
                <a:spcPct val="100000"/>
              </a:lnSpc>
              <a:buNone/>
            </a:pPr>
            <a:r>
              <a:rPr b="1" lang="de-DE" sz="3400" spc="-1" strike="noStrike">
                <a:solidFill>
                  <a:srgbClr val="ffffff"/>
                </a:solidFill>
                <a:latin typeface="Segoe UI"/>
                <a:ea typeface="DejaVu Sans"/>
              </a:rPr>
              <a:t>Approach</a:t>
            </a:r>
            <a:endParaRPr b="0" lang="en-US" sz="3400" spc="-1" strike="noStrike">
              <a:latin typeface="Arial"/>
            </a:endParaRPr>
          </a:p>
        </p:txBody>
      </p:sp>
      <p:sp>
        <p:nvSpPr>
          <p:cNvPr id="57" name="Textfeld 106"/>
          <p:cNvSpPr/>
          <p:nvPr/>
        </p:nvSpPr>
        <p:spPr>
          <a:xfrm>
            <a:off x="1660320" y="19274400"/>
            <a:ext cx="23656680" cy="601560"/>
          </a:xfrm>
          <a:prstGeom prst="rect">
            <a:avLst/>
          </a:prstGeom>
          <a:solidFill>
            <a:srgbClr val="264796"/>
          </a:solidFill>
          <a:ln w="0">
            <a:noFill/>
          </a:ln>
        </p:spPr>
        <p:style>
          <a:lnRef idx="0"/>
          <a:fillRef idx="0"/>
          <a:effectRef idx="0"/>
          <a:fontRef idx="minor"/>
        </p:style>
        <p:txBody>
          <a:bodyPr lIns="90000" rIns="90000" tIns="45000" bIns="45000" anchor="t">
            <a:spAutoFit/>
          </a:bodyPr>
          <a:p>
            <a:pPr algn="ctr">
              <a:lnSpc>
                <a:spcPct val="100000"/>
              </a:lnSpc>
              <a:buNone/>
            </a:pPr>
            <a:r>
              <a:rPr b="1" lang="de-DE" sz="3359" spc="-1" strike="noStrike">
                <a:solidFill>
                  <a:srgbClr val="ffffff"/>
                </a:solidFill>
                <a:latin typeface="Segoe UI"/>
                <a:ea typeface="DejaVu Sans"/>
              </a:rPr>
              <a:t>Candidate Schemes and Parameters</a:t>
            </a:r>
            <a:endParaRPr b="0" lang="en-US" sz="3359" spc="-1" strike="noStrike">
              <a:latin typeface="Arial"/>
            </a:endParaRPr>
          </a:p>
        </p:txBody>
      </p:sp>
      <p:sp>
        <p:nvSpPr>
          <p:cNvPr id="58" name="Textfeld 107"/>
          <p:cNvSpPr/>
          <p:nvPr/>
        </p:nvSpPr>
        <p:spPr>
          <a:xfrm>
            <a:off x="26336880" y="4343040"/>
            <a:ext cx="14839200" cy="601560"/>
          </a:xfrm>
          <a:prstGeom prst="rect">
            <a:avLst/>
          </a:prstGeom>
          <a:solidFill>
            <a:srgbClr val="264796"/>
          </a:solidFill>
          <a:ln w="0">
            <a:noFill/>
          </a:ln>
        </p:spPr>
        <p:style>
          <a:lnRef idx="0"/>
          <a:fillRef idx="0"/>
          <a:effectRef idx="0"/>
          <a:fontRef idx="minor"/>
        </p:style>
        <p:txBody>
          <a:bodyPr lIns="90000" rIns="90000" tIns="45000" bIns="45000" anchor="t">
            <a:spAutoFit/>
          </a:bodyPr>
          <a:p>
            <a:pPr algn="ctr">
              <a:lnSpc>
                <a:spcPct val="100000"/>
              </a:lnSpc>
              <a:buNone/>
            </a:pPr>
            <a:r>
              <a:rPr b="1" lang="de-DE" sz="3359" spc="-1" strike="noStrike">
                <a:solidFill>
                  <a:srgbClr val="ffffff"/>
                </a:solidFill>
                <a:latin typeface="Segoe UI"/>
                <a:ea typeface="DejaVu Sans"/>
              </a:rPr>
              <a:t>Challenges and Outlook</a:t>
            </a:r>
            <a:endParaRPr b="0" lang="en-US" sz="3359" spc="-1" strike="noStrike">
              <a:latin typeface="Arial"/>
            </a:endParaRPr>
          </a:p>
        </p:txBody>
      </p:sp>
      <p:sp>
        <p:nvSpPr>
          <p:cNvPr id="59" name="Gerade Verbindung 2"/>
          <p:cNvSpPr/>
          <p:nvPr/>
        </p:nvSpPr>
        <p:spPr>
          <a:xfrm>
            <a:off x="1281240" y="3525120"/>
            <a:ext cx="40240080" cy="35280"/>
          </a:xfrm>
          <a:custGeom>
            <a:avLst/>
            <a:gdLst/>
            <a:ahLst/>
            <a:rect l="l" t="t" r="r" b="b"/>
            <a:pathLst>
              <a:path w="21600" h="21600">
                <a:moveTo>
                  <a:pt x="0" y="0"/>
                </a:moveTo>
                <a:lnTo>
                  <a:pt x="21600" y="21600"/>
                </a:lnTo>
              </a:path>
            </a:pathLst>
          </a:custGeom>
          <a:noFill/>
          <a:ln w="101600">
            <a:solidFill>
              <a:srgbClr val="264796"/>
            </a:solidFill>
            <a:round/>
          </a:ln>
        </p:spPr>
        <p:style>
          <a:lnRef idx="0"/>
          <a:fillRef idx="0"/>
          <a:effectRef idx="0"/>
          <a:fontRef idx="minor"/>
        </p:style>
      </p:sp>
      <p:pic>
        <p:nvPicPr>
          <p:cNvPr id="60" name="Picture 5" descr=""/>
          <p:cNvPicPr/>
          <p:nvPr/>
        </p:nvPicPr>
        <p:blipFill>
          <a:blip r:embed="rId1"/>
          <a:srcRect l="0" t="7158" r="0" b="6785"/>
          <a:stretch/>
        </p:blipFill>
        <p:spPr>
          <a:xfrm>
            <a:off x="38322000" y="889200"/>
            <a:ext cx="3179160" cy="2242080"/>
          </a:xfrm>
          <a:prstGeom prst="rect">
            <a:avLst/>
          </a:prstGeom>
          <a:ln w="0">
            <a:noFill/>
          </a:ln>
        </p:spPr>
      </p:pic>
      <p:pic>
        <p:nvPicPr>
          <p:cNvPr id="61" name="Grafik 3" descr="Ein Bild, das Schrift, Text, Grafiken, Logo enthält.&#10;&#10;KI-generierte Inhalte können fehlerhaft sein."/>
          <p:cNvPicPr/>
          <p:nvPr/>
        </p:nvPicPr>
        <p:blipFill>
          <a:blip r:embed="rId2"/>
          <a:stretch/>
        </p:blipFill>
        <p:spPr>
          <a:xfrm>
            <a:off x="1324800" y="93600"/>
            <a:ext cx="8281800" cy="3184200"/>
          </a:xfrm>
          <a:prstGeom prst="rect">
            <a:avLst/>
          </a:prstGeom>
          <a:ln w="0">
            <a:noFill/>
          </a:ln>
        </p:spPr>
      </p:pic>
      <p:grpSp>
        <p:nvGrpSpPr>
          <p:cNvPr id="62" name=""/>
          <p:cNvGrpSpPr/>
          <p:nvPr/>
        </p:nvGrpSpPr>
        <p:grpSpPr>
          <a:xfrm>
            <a:off x="26227800" y="5398560"/>
            <a:ext cx="7085520" cy="7884720"/>
            <a:chOff x="26227800" y="5398560"/>
            <a:chExt cx="7085520" cy="7884720"/>
          </a:xfrm>
        </p:grpSpPr>
        <p:grpSp>
          <p:nvGrpSpPr>
            <p:cNvPr id="63" name=""/>
            <p:cNvGrpSpPr/>
            <p:nvPr/>
          </p:nvGrpSpPr>
          <p:grpSpPr>
            <a:xfrm>
              <a:off x="28194480" y="6399720"/>
              <a:ext cx="2575800" cy="1085400"/>
              <a:chOff x="28194480" y="6399720"/>
              <a:chExt cx="2575800" cy="1085400"/>
            </a:xfrm>
          </p:grpSpPr>
          <p:sp>
            <p:nvSpPr>
              <p:cNvPr id="64" name=""/>
              <p:cNvSpPr/>
              <p:nvPr/>
            </p:nvSpPr>
            <p:spPr>
              <a:xfrm>
                <a:off x="29482200" y="6399720"/>
                <a:ext cx="360" cy="542520"/>
              </a:xfrm>
              <a:prstGeom prst="line">
                <a:avLst/>
              </a:prstGeom>
              <a:ln w="19080">
                <a:solidFill>
                  <a:srgbClr val="000000"/>
                </a:solidFill>
                <a:round/>
              </a:ln>
            </p:spPr>
            <p:style>
              <a:lnRef idx="0"/>
              <a:fillRef idx="0"/>
              <a:effectRef idx="0"/>
              <a:fontRef idx="minor"/>
            </p:style>
          </p:sp>
          <p:sp>
            <p:nvSpPr>
              <p:cNvPr id="65" name=""/>
              <p:cNvSpPr/>
              <p:nvPr/>
            </p:nvSpPr>
            <p:spPr>
              <a:xfrm>
                <a:off x="28194480" y="6942240"/>
                <a:ext cx="2575440" cy="360"/>
              </a:xfrm>
              <a:prstGeom prst="line">
                <a:avLst/>
              </a:prstGeom>
              <a:ln w="19080">
                <a:solidFill>
                  <a:srgbClr val="000000"/>
                </a:solidFill>
                <a:round/>
              </a:ln>
            </p:spPr>
            <p:style>
              <a:lnRef idx="0"/>
              <a:fillRef idx="0"/>
              <a:effectRef idx="0"/>
              <a:fontRef idx="minor"/>
            </p:style>
          </p:sp>
          <p:sp>
            <p:nvSpPr>
              <p:cNvPr id="66" name=""/>
              <p:cNvSpPr/>
              <p:nvPr/>
            </p:nvSpPr>
            <p:spPr>
              <a:xfrm>
                <a:off x="28194480" y="6942240"/>
                <a:ext cx="360" cy="542520"/>
              </a:xfrm>
              <a:prstGeom prst="line">
                <a:avLst/>
              </a:prstGeom>
              <a:ln w="19080">
                <a:solidFill>
                  <a:srgbClr val="000000"/>
                </a:solidFill>
                <a:round/>
              </a:ln>
            </p:spPr>
            <p:style>
              <a:lnRef idx="0"/>
              <a:fillRef idx="0"/>
              <a:effectRef idx="0"/>
              <a:fontRef idx="minor"/>
            </p:style>
          </p:sp>
          <p:sp>
            <p:nvSpPr>
              <p:cNvPr id="67" name=""/>
              <p:cNvSpPr/>
              <p:nvPr/>
            </p:nvSpPr>
            <p:spPr>
              <a:xfrm>
                <a:off x="30769920" y="6942600"/>
                <a:ext cx="360" cy="542520"/>
              </a:xfrm>
              <a:prstGeom prst="line">
                <a:avLst/>
              </a:prstGeom>
              <a:ln w="19080">
                <a:solidFill>
                  <a:srgbClr val="000000"/>
                </a:solidFill>
                <a:round/>
              </a:ln>
            </p:spPr>
            <p:style>
              <a:lnRef idx="0"/>
              <a:fillRef idx="0"/>
              <a:effectRef idx="0"/>
              <a:fontRef idx="minor"/>
            </p:style>
          </p:sp>
        </p:grpSp>
        <p:sp>
          <p:nvSpPr>
            <p:cNvPr id="68" name=""/>
            <p:cNvSpPr/>
            <p:nvPr/>
          </p:nvSpPr>
          <p:spPr>
            <a:xfrm>
              <a:off x="28303920" y="5398560"/>
              <a:ext cx="2350800" cy="964800"/>
            </a:xfrm>
            <a:prstGeom prst="roundRect">
              <a:avLst>
                <a:gd name="adj" fmla="val 16667"/>
              </a:avLst>
            </a:prstGeom>
            <a:noFill/>
            <a:ln w="29160">
              <a:solidFill>
                <a:srgbClr val="000000"/>
              </a:solidFill>
              <a:round/>
            </a:ln>
          </p:spPr>
          <p:style>
            <a:lnRef idx="0"/>
            <a:fillRef idx="0"/>
            <a:effectRef idx="0"/>
            <a:fontRef idx="minor"/>
          </p:style>
          <p:txBody>
            <a:bodyPr lIns="104400" rIns="104400" tIns="59400" bIns="59400" anchor="ctr">
              <a:noAutofit/>
            </a:bodyPr>
            <a:p>
              <a:pPr algn="ctr">
                <a:lnSpc>
                  <a:spcPct val="100000"/>
                </a:lnSpc>
                <a:buNone/>
              </a:pPr>
              <a:r>
                <a:rPr b="0" lang="en-US" sz="3200" spc="-1" strike="noStrike">
                  <a:solidFill>
                    <a:srgbClr val="000000"/>
                  </a:solidFill>
                  <a:latin typeface="Segoe UI"/>
                  <a:ea typeface="DejaVu Sans"/>
                </a:rPr>
                <a:t>ICON-XPP</a:t>
              </a:r>
              <a:endParaRPr b="0" lang="en-US" sz="3200" spc="-1" strike="noStrike">
                <a:latin typeface="Arial"/>
              </a:endParaRPr>
            </a:p>
          </p:txBody>
        </p:sp>
        <p:sp>
          <p:nvSpPr>
            <p:cNvPr id="69" name=""/>
            <p:cNvSpPr/>
            <p:nvPr/>
          </p:nvSpPr>
          <p:spPr>
            <a:xfrm>
              <a:off x="26876160" y="7553160"/>
              <a:ext cx="2100600" cy="964800"/>
            </a:xfrm>
            <a:prstGeom prst="roundRect">
              <a:avLst>
                <a:gd name="adj" fmla="val 16667"/>
              </a:avLst>
            </a:prstGeom>
            <a:noFill/>
            <a:ln w="29160">
              <a:solidFill>
                <a:srgbClr val="000000"/>
              </a:solidFill>
              <a:round/>
            </a:ln>
          </p:spPr>
          <p:style>
            <a:lnRef idx="0"/>
            <a:fillRef idx="0"/>
            <a:effectRef idx="0"/>
            <a:fontRef idx="minor"/>
          </p:style>
          <p:txBody>
            <a:bodyPr lIns="104400" rIns="104400" tIns="59400" bIns="59400" anchor="ctr">
              <a:noAutofit/>
            </a:bodyPr>
            <a:p>
              <a:pPr algn="ctr">
                <a:lnSpc>
                  <a:spcPct val="100000"/>
                </a:lnSpc>
                <a:buNone/>
              </a:pPr>
              <a:r>
                <a:rPr b="0" lang="en-US" sz="3200" spc="-1" strike="noStrike">
                  <a:solidFill>
                    <a:srgbClr val="000000"/>
                  </a:solidFill>
                  <a:latin typeface="Segoe UI"/>
                  <a:ea typeface="DejaVu Sans"/>
                </a:rPr>
                <a:t>LLVM IR</a:t>
              </a:r>
              <a:endParaRPr b="0" lang="en-US" sz="3200" spc="-1" strike="noStrike">
                <a:latin typeface="Arial"/>
              </a:endParaRPr>
            </a:p>
          </p:txBody>
        </p:sp>
        <p:sp>
          <p:nvSpPr>
            <p:cNvPr id="70" name=""/>
            <p:cNvSpPr/>
            <p:nvPr/>
          </p:nvSpPr>
          <p:spPr>
            <a:xfrm>
              <a:off x="30070080" y="7553160"/>
              <a:ext cx="2100240" cy="964800"/>
            </a:xfrm>
            <a:prstGeom prst="roundRect">
              <a:avLst>
                <a:gd name="adj" fmla="val 16667"/>
              </a:avLst>
            </a:prstGeom>
            <a:noFill/>
            <a:ln w="29160">
              <a:solidFill>
                <a:srgbClr val="000000"/>
              </a:solidFill>
              <a:round/>
            </a:ln>
          </p:spPr>
          <p:style>
            <a:lnRef idx="0"/>
            <a:fillRef idx="0"/>
            <a:effectRef idx="0"/>
            <a:fontRef idx="minor"/>
          </p:style>
          <p:txBody>
            <a:bodyPr lIns="104400" rIns="104400" tIns="59400" bIns="59400" anchor="ctr">
              <a:noAutofit/>
            </a:bodyPr>
            <a:p>
              <a:pPr algn="ctr">
                <a:lnSpc>
                  <a:spcPct val="100000"/>
                </a:lnSpc>
                <a:buNone/>
              </a:pPr>
              <a:r>
                <a:rPr b="0" lang="en-US" sz="3200" spc="-1" strike="noStrike">
                  <a:solidFill>
                    <a:srgbClr val="000000"/>
                  </a:solidFill>
                  <a:latin typeface="Segoe UI"/>
                  <a:ea typeface="DejaVu Sans"/>
                </a:rPr>
                <a:t>LLVM IR</a:t>
              </a:r>
              <a:endParaRPr b="0" lang="en-US" sz="3200" spc="-1" strike="noStrike">
                <a:latin typeface="Arial"/>
              </a:endParaRPr>
            </a:p>
          </p:txBody>
        </p:sp>
        <p:sp>
          <p:nvSpPr>
            <p:cNvPr id="71" name=""/>
            <p:cNvSpPr/>
            <p:nvPr/>
          </p:nvSpPr>
          <p:spPr>
            <a:xfrm flipH="1">
              <a:off x="28194480" y="9122760"/>
              <a:ext cx="2575440" cy="360"/>
            </a:xfrm>
            <a:prstGeom prst="line">
              <a:avLst/>
            </a:prstGeom>
            <a:ln w="19080">
              <a:solidFill>
                <a:srgbClr val="000000"/>
              </a:solidFill>
              <a:round/>
            </a:ln>
          </p:spPr>
          <p:style>
            <a:lnRef idx="0"/>
            <a:fillRef idx="0"/>
            <a:effectRef idx="0"/>
            <a:fontRef idx="minor"/>
          </p:style>
        </p:sp>
        <p:sp>
          <p:nvSpPr>
            <p:cNvPr id="72" name=""/>
            <p:cNvSpPr/>
            <p:nvPr/>
          </p:nvSpPr>
          <p:spPr>
            <a:xfrm flipV="1">
              <a:off x="30769920" y="8580240"/>
              <a:ext cx="360" cy="542520"/>
            </a:xfrm>
            <a:prstGeom prst="line">
              <a:avLst/>
            </a:prstGeom>
            <a:ln w="19080">
              <a:solidFill>
                <a:srgbClr val="000000"/>
              </a:solidFill>
              <a:round/>
            </a:ln>
          </p:spPr>
          <p:style>
            <a:lnRef idx="0"/>
            <a:fillRef idx="0"/>
            <a:effectRef idx="0"/>
            <a:fontRef idx="minor"/>
          </p:style>
        </p:sp>
        <p:sp>
          <p:nvSpPr>
            <p:cNvPr id="73" name=""/>
            <p:cNvSpPr/>
            <p:nvPr/>
          </p:nvSpPr>
          <p:spPr>
            <a:xfrm flipV="1">
              <a:off x="28194480" y="8579880"/>
              <a:ext cx="360" cy="542160"/>
            </a:xfrm>
            <a:prstGeom prst="line">
              <a:avLst/>
            </a:prstGeom>
            <a:ln w="19080">
              <a:solidFill>
                <a:srgbClr val="000000"/>
              </a:solidFill>
              <a:round/>
            </a:ln>
          </p:spPr>
          <p:style>
            <a:lnRef idx="0"/>
            <a:fillRef idx="0"/>
            <a:effectRef idx="0"/>
            <a:fontRef idx="minor"/>
          </p:style>
        </p:sp>
        <p:sp>
          <p:nvSpPr>
            <p:cNvPr id="74" name=""/>
            <p:cNvSpPr/>
            <p:nvPr/>
          </p:nvSpPr>
          <p:spPr>
            <a:xfrm>
              <a:off x="26227800" y="6318360"/>
              <a:ext cx="2284920" cy="120744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buNone/>
              </a:pPr>
              <a:r>
                <a:rPr b="0" lang="en-US" sz="3200" spc="-1" strike="noStrike">
                  <a:solidFill>
                    <a:srgbClr val="000000"/>
                  </a:solidFill>
                  <a:latin typeface="Segoe UI"/>
                  <a:ea typeface="DejaVu Sans"/>
                </a:rPr>
                <a:t>IFX 2023.x</a:t>
              </a:r>
              <a:endParaRPr b="0" lang="en-US" sz="3200" spc="-1" strike="noStrike">
                <a:latin typeface="Arial"/>
              </a:endParaRPr>
            </a:p>
          </p:txBody>
        </p:sp>
        <p:sp>
          <p:nvSpPr>
            <p:cNvPr id="75" name=""/>
            <p:cNvSpPr/>
            <p:nvPr/>
          </p:nvSpPr>
          <p:spPr>
            <a:xfrm>
              <a:off x="30209400" y="6332400"/>
              <a:ext cx="1930320" cy="120744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buNone/>
              </a:pPr>
              <a:r>
                <a:rPr b="0" lang="en-US" sz="3200" spc="-1" strike="noStrike">
                  <a:solidFill>
                    <a:srgbClr val="000000"/>
                  </a:solidFill>
                  <a:latin typeface="Segoe UI"/>
                  <a:ea typeface="DejaVu Sans"/>
                </a:rPr>
                <a:t>Flang</a:t>
              </a:r>
              <a:endParaRPr b="0" lang="en-US" sz="3200" spc="-1" strike="noStrike">
                <a:latin typeface="Arial"/>
              </a:endParaRPr>
            </a:p>
          </p:txBody>
        </p:sp>
        <p:sp>
          <p:nvSpPr>
            <p:cNvPr id="76" name=""/>
            <p:cNvSpPr/>
            <p:nvPr/>
          </p:nvSpPr>
          <p:spPr>
            <a:xfrm rot="10800000">
              <a:off x="29323080" y="10091520"/>
              <a:ext cx="320760" cy="320760"/>
            </a:xfrm>
            <a:prstGeom prst="triangle">
              <a:avLst>
                <a:gd name="adj" fmla="val 50000"/>
              </a:avLst>
            </a:prstGeom>
            <a:solidFill>
              <a:srgbClr val="000000"/>
            </a:solidFill>
            <a:ln w="0">
              <a:solidFill>
                <a:srgbClr val="000000"/>
              </a:solidFill>
            </a:ln>
          </p:spPr>
          <p:style>
            <a:lnRef idx="0"/>
            <a:fillRef idx="0"/>
            <a:effectRef idx="0"/>
            <a:fontRef idx="minor"/>
          </p:style>
        </p:sp>
        <p:sp>
          <p:nvSpPr>
            <p:cNvPr id="77" name=""/>
            <p:cNvSpPr/>
            <p:nvPr/>
          </p:nvSpPr>
          <p:spPr>
            <a:xfrm>
              <a:off x="29476440" y="9127800"/>
              <a:ext cx="360" cy="965880"/>
            </a:xfrm>
            <a:prstGeom prst="line">
              <a:avLst/>
            </a:prstGeom>
            <a:ln w="19080">
              <a:solidFill>
                <a:srgbClr val="000000"/>
              </a:solidFill>
              <a:round/>
            </a:ln>
          </p:spPr>
          <p:style>
            <a:lnRef idx="0"/>
            <a:fillRef idx="0"/>
            <a:effectRef idx="0"/>
            <a:fontRef idx="minor"/>
          </p:style>
        </p:sp>
        <p:sp>
          <p:nvSpPr>
            <p:cNvPr id="78" name=""/>
            <p:cNvSpPr/>
            <p:nvPr/>
          </p:nvSpPr>
          <p:spPr>
            <a:xfrm>
              <a:off x="29312280" y="9416880"/>
              <a:ext cx="2400840" cy="10648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buNone/>
              </a:pPr>
              <a:r>
                <a:rPr b="0" lang="en-US" sz="3200" spc="-1" strike="noStrike">
                  <a:solidFill>
                    <a:srgbClr val="000000"/>
                  </a:solidFill>
                  <a:latin typeface="Segoe UI"/>
                  <a:ea typeface="DejaVu Sans"/>
                </a:rPr>
                <a:t>Enzyme</a:t>
              </a:r>
              <a:endParaRPr b="0" lang="en-US" sz="3200" spc="-1" strike="noStrike">
                <a:latin typeface="Arial"/>
              </a:endParaRPr>
            </a:p>
          </p:txBody>
        </p:sp>
        <p:sp>
          <p:nvSpPr>
            <p:cNvPr id="79" name=""/>
            <p:cNvSpPr/>
            <p:nvPr/>
          </p:nvSpPr>
          <p:spPr>
            <a:xfrm>
              <a:off x="28004760" y="10442880"/>
              <a:ext cx="2927160" cy="964800"/>
            </a:xfrm>
            <a:prstGeom prst="roundRect">
              <a:avLst>
                <a:gd name="adj" fmla="val 16667"/>
              </a:avLst>
            </a:prstGeom>
            <a:noFill/>
            <a:ln w="29160">
              <a:solidFill>
                <a:srgbClr val="000000"/>
              </a:solidFill>
              <a:round/>
            </a:ln>
          </p:spPr>
          <p:style>
            <a:lnRef idx="0"/>
            <a:fillRef idx="0"/>
            <a:effectRef idx="0"/>
            <a:fontRef idx="minor"/>
          </p:style>
          <p:txBody>
            <a:bodyPr lIns="104400" rIns="104400" tIns="59400" bIns="59400" anchor="ctr">
              <a:noAutofit/>
            </a:bodyPr>
            <a:p>
              <a:pPr algn="ctr">
                <a:lnSpc>
                  <a:spcPct val="100000"/>
                </a:lnSpc>
                <a:buNone/>
              </a:pPr>
              <a:r>
                <a:rPr b="0" lang="en-US" sz="3200" spc="-1" strike="noStrike">
                  <a:solidFill>
                    <a:srgbClr val="000000"/>
                  </a:solidFill>
                  <a:latin typeface="Segoe UI"/>
                  <a:ea typeface="DejaVu Sans"/>
                </a:rPr>
                <a:t>AD LLVM IR</a:t>
              </a:r>
              <a:endParaRPr b="0" lang="en-US" sz="3200" spc="-1" strike="noStrike">
                <a:latin typeface="Arial"/>
              </a:endParaRPr>
            </a:p>
          </p:txBody>
        </p:sp>
        <p:sp>
          <p:nvSpPr>
            <p:cNvPr id="80" name=""/>
            <p:cNvSpPr/>
            <p:nvPr/>
          </p:nvSpPr>
          <p:spPr>
            <a:xfrm>
              <a:off x="29476440" y="11409120"/>
              <a:ext cx="360" cy="643680"/>
            </a:xfrm>
            <a:prstGeom prst="line">
              <a:avLst/>
            </a:prstGeom>
            <a:ln w="19080">
              <a:solidFill>
                <a:srgbClr val="000000"/>
              </a:solidFill>
              <a:round/>
            </a:ln>
          </p:spPr>
          <p:style>
            <a:lnRef idx="0"/>
            <a:fillRef idx="0"/>
            <a:effectRef idx="0"/>
            <a:fontRef idx="minor"/>
          </p:style>
        </p:sp>
        <p:sp>
          <p:nvSpPr>
            <p:cNvPr id="81" name=""/>
            <p:cNvSpPr/>
            <p:nvPr/>
          </p:nvSpPr>
          <p:spPr>
            <a:xfrm rot="10800000">
              <a:off x="29323080" y="11967480"/>
              <a:ext cx="320760" cy="320760"/>
            </a:xfrm>
            <a:prstGeom prst="triangle">
              <a:avLst>
                <a:gd name="adj" fmla="val 50000"/>
              </a:avLst>
            </a:prstGeom>
            <a:solidFill>
              <a:srgbClr val="000000"/>
            </a:solidFill>
            <a:ln w="0">
              <a:solidFill>
                <a:srgbClr val="000000"/>
              </a:solidFill>
            </a:ln>
          </p:spPr>
          <p:style>
            <a:lnRef idx="0"/>
            <a:fillRef idx="0"/>
            <a:effectRef idx="0"/>
            <a:fontRef idx="minor"/>
          </p:style>
        </p:sp>
        <p:sp>
          <p:nvSpPr>
            <p:cNvPr id="82" name=""/>
            <p:cNvSpPr/>
            <p:nvPr/>
          </p:nvSpPr>
          <p:spPr>
            <a:xfrm>
              <a:off x="27900000" y="12318480"/>
              <a:ext cx="3176280" cy="964800"/>
            </a:xfrm>
            <a:prstGeom prst="roundRect">
              <a:avLst>
                <a:gd name="adj" fmla="val 16667"/>
              </a:avLst>
            </a:prstGeom>
            <a:noFill/>
            <a:ln w="29160">
              <a:solidFill>
                <a:srgbClr val="000000"/>
              </a:solidFill>
              <a:round/>
            </a:ln>
          </p:spPr>
          <p:style>
            <a:lnRef idx="0"/>
            <a:fillRef idx="0"/>
            <a:effectRef idx="0"/>
            <a:fontRef idx="minor"/>
          </p:style>
          <p:txBody>
            <a:bodyPr lIns="104400" rIns="104400" tIns="59400" bIns="59400" anchor="ctr">
              <a:noAutofit/>
            </a:bodyPr>
            <a:p>
              <a:pPr algn="ctr">
                <a:lnSpc>
                  <a:spcPct val="100000"/>
                </a:lnSpc>
                <a:buNone/>
              </a:pPr>
              <a:r>
                <a:rPr b="0" lang="en-US" sz="3200" spc="-1" strike="noStrike">
                  <a:solidFill>
                    <a:srgbClr val="000000"/>
                  </a:solidFill>
                  <a:latin typeface="Segoe UI"/>
                  <a:ea typeface="DejaVu Sans"/>
                </a:rPr>
                <a:t>AD ICON-XPP</a:t>
              </a:r>
              <a:endParaRPr b="0" lang="en-US" sz="3200" spc="-1" strike="noStrike">
                <a:latin typeface="Arial"/>
              </a:endParaRPr>
            </a:p>
          </p:txBody>
        </p:sp>
        <p:sp>
          <p:nvSpPr>
            <p:cNvPr id="83" name=""/>
            <p:cNvSpPr/>
            <p:nvPr/>
          </p:nvSpPr>
          <p:spPr>
            <a:xfrm>
              <a:off x="29312640" y="11545920"/>
              <a:ext cx="4000680" cy="10648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buNone/>
              </a:pPr>
              <a:r>
                <a:rPr b="0" lang="en-US" sz="3200" spc="-1" strike="noStrike">
                  <a:solidFill>
                    <a:srgbClr val="000000"/>
                  </a:solidFill>
                  <a:latin typeface="Segoe UI"/>
                  <a:ea typeface="DejaVu Sans"/>
                </a:rPr>
                <a:t>GNU Autotools</a:t>
              </a:r>
              <a:endParaRPr b="0" lang="en-US" sz="3200" spc="-1" strike="noStrike">
                <a:latin typeface="Arial"/>
              </a:endParaRPr>
            </a:p>
          </p:txBody>
        </p:sp>
      </p:grpSp>
      <p:pic>
        <p:nvPicPr>
          <p:cNvPr id="84" name="" descr=""/>
          <p:cNvPicPr/>
          <p:nvPr/>
        </p:nvPicPr>
        <p:blipFill>
          <a:blip r:embed="rId3"/>
          <a:srcRect l="0" t="0" r="0" b="13858"/>
          <a:stretch/>
        </p:blipFill>
        <p:spPr>
          <a:xfrm>
            <a:off x="1372320" y="10335600"/>
            <a:ext cx="6664320" cy="6509520"/>
          </a:xfrm>
          <a:prstGeom prst="rect">
            <a:avLst/>
          </a:prstGeom>
          <a:ln w="0">
            <a:noFill/>
          </a:ln>
        </p:spPr>
      </p:pic>
      <p:sp>
        <p:nvSpPr>
          <p:cNvPr id="85" name=""/>
          <p:cNvSpPr/>
          <p:nvPr/>
        </p:nvSpPr>
        <p:spPr>
          <a:xfrm>
            <a:off x="26373600" y="25122600"/>
            <a:ext cx="14629680" cy="38278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pPr>
            <a:r>
              <a:rPr b="0" lang="en-US" sz="2400" spc="-1" strike="noStrike">
                <a:solidFill>
                  <a:srgbClr val="000000"/>
                </a:solidFill>
                <a:latin typeface="Arial"/>
                <a:ea typeface="DejaVu Sans"/>
              </a:rPr>
              <a:t>1. Müller, W. A. et al.: The ICON-based Earth System Model for climate predictions and projections (ICON XPP v1.0), </a:t>
            </a:r>
            <a:r>
              <a:rPr b="0" i="1" lang="en-US" sz="2400" spc="-1" strike="noStrike">
                <a:solidFill>
                  <a:srgbClr val="000000"/>
                </a:solidFill>
                <a:latin typeface="Arial"/>
                <a:ea typeface="DejaVu Sans"/>
              </a:rPr>
              <a:t>Geosci. Model Dev.</a:t>
            </a:r>
            <a:r>
              <a:rPr b="0" lang="en-US" sz="2400" spc="-1" strike="noStrike">
                <a:solidFill>
                  <a:srgbClr val="000000"/>
                </a:solidFill>
                <a:latin typeface="Arial"/>
                <a:ea typeface="DejaVu Sans"/>
              </a:rPr>
              <a:t>, 18, 9385–9415, 2025.</a:t>
            </a:r>
            <a:endParaRPr b="0" lang="en-US" sz="2400" spc="-1" strike="noStrike">
              <a:latin typeface="Arial"/>
            </a:endParaRPr>
          </a:p>
          <a:p>
            <a:pPr>
              <a:lnSpc>
                <a:spcPct val="100000"/>
              </a:lnSpc>
              <a:buNone/>
            </a:pPr>
            <a:r>
              <a:rPr b="0" lang="en-US" sz="2400" spc="-1" strike="noStrike">
                <a:solidFill>
                  <a:srgbClr val="000000"/>
                </a:solidFill>
                <a:latin typeface="Arial"/>
                <a:ea typeface="DejaVu Sans"/>
              </a:rPr>
              <a:t>2. Jungclaus JH, et al. The icon Earth System Model Version 1.0. </a:t>
            </a:r>
            <a:r>
              <a:rPr b="0" i="1" lang="en-US" sz="2400" spc="-1" strike="noStrike">
                <a:solidFill>
                  <a:srgbClr val="000000"/>
                </a:solidFill>
                <a:latin typeface="Arial"/>
                <a:ea typeface="DejaVu Sans"/>
              </a:rPr>
              <a:t>Journal of Advances in Modeling Earth Systems. </a:t>
            </a:r>
            <a:r>
              <a:rPr b="0" lang="en-US" sz="2400" spc="-1" strike="noStrike">
                <a:solidFill>
                  <a:srgbClr val="000000"/>
                </a:solidFill>
                <a:latin typeface="Arial"/>
                <a:ea typeface="DejaVu Sans"/>
              </a:rPr>
              <a:t>14(4), 2022. </a:t>
            </a:r>
            <a:endParaRPr b="0" lang="en-US" sz="2400" spc="-1" strike="noStrike">
              <a:latin typeface="Arial"/>
            </a:endParaRPr>
          </a:p>
          <a:p>
            <a:pPr>
              <a:lnSpc>
                <a:spcPct val="100000"/>
              </a:lnSpc>
              <a:buNone/>
            </a:pPr>
            <a:r>
              <a:rPr b="0" lang="en-US" sz="2400" spc="-1" strike="noStrike">
                <a:solidFill>
                  <a:srgbClr val="000000"/>
                </a:solidFill>
                <a:latin typeface="Arial"/>
                <a:ea typeface="DejaVu Sans"/>
              </a:rPr>
              <a:t>3. Moses WS, et al. DJ4Earth: Differentiable, and performance‐portable Earth System Modeling via program transformations. </a:t>
            </a:r>
            <a:r>
              <a:rPr b="0" i="1" lang="en-US" sz="2400" spc="-1" strike="noStrike">
                <a:solidFill>
                  <a:srgbClr val="000000"/>
                </a:solidFill>
                <a:latin typeface="Arial"/>
                <a:ea typeface="DejaVu Sans"/>
              </a:rPr>
              <a:t>Journal of Advances in Modeling Earth Systems.</a:t>
            </a:r>
            <a:r>
              <a:rPr b="0" lang="en-US" sz="2400" spc="-1" strike="noStrike">
                <a:solidFill>
                  <a:srgbClr val="000000"/>
                </a:solidFill>
                <a:latin typeface="Arial"/>
                <a:ea typeface="DejaVu Sans"/>
              </a:rPr>
              <a:t> 18(5), 2026.</a:t>
            </a:r>
            <a:endParaRPr b="0" lang="en-US" sz="2400" spc="-1" strike="noStrike">
              <a:latin typeface="Arial"/>
            </a:endParaRPr>
          </a:p>
          <a:p>
            <a:pPr>
              <a:lnSpc>
                <a:spcPct val="100000"/>
              </a:lnSpc>
              <a:buNone/>
            </a:pPr>
            <a:r>
              <a:rPr b="0" lang="en-US" sz="2400" spc="-1" strike="noStrike">
                <a:solidFill>
                  <a:srgbClr val="000000"/>
                </a:solidFill>
                <a:latin typeface="Arial"/>
                <a:ea typeface="DejaVu Sans"/>
              </a:rPr>
              <a:t>4. Moses WS, et al. Scalable automatic differentiation of multiple parallel paradigms through compiler augmentation. In: Proceedings of the International Conference on High Performance Computing, Networking, Storage and Analysis (SC '22). IEEE, 1-18, 2022. </a:t>
            </a:r>
            <a:endParaRPr b="0" lang="en-US" sz="2400" spc="-1" strike="noStrike">
              <a:latin typeface="Arial"/>
            </a:endParaRPr>
          </a:p>
          <a:p>
            <a:pPr>
              <a:lnSpc>
                <a:spcPct val="100000"/>
              </a:lnSpc>
              <a:buNone/>
            </a:pPr>
            <a:endParaRPr b="0" lang="en-US" sz="2400" spc="-1" strike="noStrike">
              <a:latin typeface="Arial"/>
            </a:endParaRPr>
          </a:p>
          <a:p>
            <a:pPr>
              <a:lnSpc>
                <a:spcPct val="100000"/>
              </a:lnSpc>
              <a:buNone/>
            </a:pPr>
            <a:endParaRPr b="0" lang="en-US" sz="2400" spc="-1" strike="noStrike">
              <a:latin typeface="Arial"/>
            </a:endParaRPr>
          </a:p>
        </p:txBody>
      </p:sp>
      <p:sp>
        <p:nvSpPr>
          <p:cNvPr id="86" name=""/>
          <p:cNvSpPr/>
          <p:nvPr/>
        </p:nvSpPr>
        <p:spPr>
          <a:xfrm>
            <a:off x="32918400" y="5404680"/>
            <a:ext cx="8601840" cy="8310600"/>
          </a:xfrm>
          <a:prstGeom prst="rect">
            <a:avLst/>
          </a:prstGeom>
          <a:noFill/>
          <a:ln w="0">
            <a:noFill/>
          </a:ln>
        </p:spPr>
        <p:style>
          <a:lnRef idx="0"/>
          <a:fillRef idx="0"/>
          <a:effectRef idx="0"/>
          <a:fontRef idx="minor"/>
        </p:style>
        <p:txBody>
          <a:bodyPr lIns="90000" rIns="90000" tIns="45000" bIns="45000" anchor="t">
            <a:noAutofit/>
          </a:bodyPr>
          <a:p>
            <a:pPr marL="216000" indent="-216000">
              <a:lnSpc>
                <a:spcPct val="100000"/>
              </a:lnSpc>
              <a:buClr>
                <a:srgbClr val="000000"/>
              </a:buClr>
              <a:buSzPct val="45000"/>
              <a:buFont typeface="Wingdings" charset="2"/>
              <a:buChar char=""/>
            </a:pPr>
            <a:r>
              <a:rPr b="1" lang="en-US" sz="3200" spc="-1" strike="noStrike">
                <a:solidFill>
                  <a:srgbClr val="000000"/>
                </a:solidFill>
                <a:latin typeface="Arial"/>
                <a:ea typeface="DejaVu Sans"/>
              </a:rPr>
              <a:t>Figure 2: </a:t>
            </a:r>
            <a:r>
              <a:rPr b="0" lang="en-US" sz="3200" spc="-1" strike="noStrike">
                <a:solidFill>
                  <a:srgbClr val="000000"/>
                </a:solidFill>
                <a:latin typeface="Arial"/>
                <a:ea typeface="DejaVu Sans"/>
              </a:rPr>
              <a:t>IFX is a supported ICON compiler and provides an LLVM-based backend, but its generated IR is not designed as a stable public interface.Flang provides an open LLVM-based Fortran compilation path but does not yet compile the complete ICON software stack. Establishing a robust ICON to LLVM to Enzyme workflow is therefore a major initial challenge. Note, however, there is ongoing work at the German Climate Computing Center (DKRZ) for supporting Flang-based compilation. ICON can be compiled with IFX 2025.3; however, it is not trivial for Enzyme to support optimization of Intel compiler emitted LLVM IR as it is currently an open question since instead the Flang MLIR—known as FIR—may become the sole AD transformation target of Enzyme.</a:t>
            </a:r>
            <a:endParaRPr b="0" lang="en-US" sz="3200" spc="-1" strike="noStrike">
              <a:latin typeface="Arial"/>
            </a:endParaRPr>
          </a:p>
        </p:txBody>
      </p:sp>
      <p:sp>
        <p:nvSpPr>
          <p:cNvPr id="87" name=""/>
          <p:cNvSpPr/>
          <p:nvPr/>
        </p:nvSpPr>
        <p:spPr>
          <a:xfrm>
            <a:off x="1660320" y="4996080"/>
            <a:ext cx="23484960" cy="3281400"/>
          </a:xfrm>
          <a:prstGeom prst="rect">
            <a:avLst/>
          </a:prstGeom>
          <a:noFill/>
          <a:ln w="0">
            <a:noFill/>
          </a:ln>
        </p:spPr>
        <p:style>
          <a:lnRef idx="0"/>
          <a:fillRef idx="0"/>
          <a:effectRef idx="0"/>
          <a:fontRef idx="minor"/>
        </p:style>
        <p:txBody>
          <a:bodyPr lIns="90000" rIns="90000" tIns="45000" bIns="45000" anchor="t">
            <a:noAutofit/>
          </a:bodyPr>
          <a:p>
            <a:pPr marL="216000" indent="-216000">
              <a:lnSpc>
                <a:spcPct val="100000"/>
              </a:lnSpc>
              <a:buClr>
                <a:srgbClr val="000000"/>
              </a:buClr>
              <a:buSzPct val="45000"/>
              <a:buFont typeface="Wingdings" charset="2"/>
              <a:buChar char=""/>
            </a:pPr>
            <a:r>
              <a:rPr b="1" lang="en-US" sz="3200" spc="-1" strike="noStrike">
                <a:solidFill>
                  <a:srgbClr val="000000"/>
                </a:solidFill>
                <a:latin typeface="Arial"/>
                <a:ea typeface="DejaVu Sans"/>
              </a:rPr>
              <a:t>Can automatic differentiation help us calibrate the atmosphere from the surface to space?</a:t>
            </a:r>
            <a:endParaRPr b="0" lang="en-US" sz="3200" spc="-1" strike="noStrike">
              <a:latin typeface="Arial"/>
            </a:endParaRPr>
          </a:p>
          <a:p>
            <a:pPr>
              <a:lnSpc>
                <a:spcPct val="100000"/>
              </a:lnSpc>
              <a:buNone/>
            </a:pP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solidFill>
                  <a:srgbClr val="000000"/>
                </a:solidFill>
                <a:latin typeface="Arial"/>
                <a:ea typeface="DejaVu Sans"/>
              </a:rPr>
              <a:t>ICON-XPP is a state-of-the-art Earth system model for which a subset known as UA-ICON extends the model atmosphere from 75 to 150 km. This creates new physical constraints from the upper atmosphere, whose response to climate forcing can differ dramatically from that of the lower atmosphere. We will use Enzyme-based automatic differentiation to quantify parameter sensitivities and enable efficient, systematic calibration of the coupled model. This provides a foundation not only for improved physical parameterizations, but ultimately for differentiable hybrid ML–physics modelling and online optimization.</a:t>
            </a:r>
            <a:endParaRPr b="0" lang="en-US" sz="3200" spc="-1" strike="noStrike">
              <a:latin typeface="Arial"/>
            </a:endParaRPr>
          </a:p>
        </p:txBody>
      </p:sp>
      <p:pic>
        <p:nvPicPr>
          <p:cNvPr id="88" name="" descr=""/>
          <p:cNvPicPr/>
          <p:nvPr/>
        </p:nvPicPr>
        <p:blipFill>
          <a:blip r:embed="rId4"/>
          <a:stretch/>
        </p:blipFill>
        <p:spPr>
          <a:xfrm>
            <a:off x="11721600" y="11070000"/>
            <a:ext cx="5654880" cy="5654880"/>
          </a:xfrm>
          <a:prstGeom prst="rect">
            <a:avLst/>
          </a:prstGeom>
          <a:ln w="0">
            <a:noFill/>
          </a:ln>
        </p:spPr>
      </p:pic>
      <p:pic>
        <p:nvPicPr>
          <p:cNvPr id="89" name="" descr=""/>
          <p:cNvPicPr/>
          <p:nvPr/>
        </p:nvPicPr>
        <p:blipFill>
          <a:blip r:embed="rId5"/>
          <a:stretch/>
        </p:blipFill>
        <p:spPr>
          <a:xfrm>
            <a:off x="21364200" y="11803680"/>
            <a:ext cx="3656880" cy="4197600"/>
          </a:xfrm>
          <a:prstGeom prst="rect">
            <a:avLst/>
          </a:prstGeom>
          <a:ln w="0">
            <a:noFill/>
          </a:ln>
        </p:spPr>
      </p:pic>
      <p:sp>
        <p:nvSpPr>
          <p:cNvPr id="90" name=""/>
          <p:cNvSpPr/>
          <p:nvPr/>
        </p:nvSpPr>
        <p:spPr>
          <a:xfrm>
            <a:off x="17634600" y="13716000"/>
            <a:ext cx="3428280" cy="456480"/>
          </a:xfrm>
          <a:custGeom>
            <a:avLst/>
            <a:gdLst/>
            <a:ahLst/>
            <a:rect l="l" t="t" r="r" b="b"/>
            <a:pathLst>
              <a:path w="21600" h="21600">
                <a:moveTo>
                  <a:pt x="0" y="5400"/>
                </a:moveTo>
                <a:lnTo>
                  <a:pt x="16200" y="5400"/>
                </a:lnTo>
                <a:lnTo>
                  <a:pt x="16200" y="0"/>
                </a:lnTo>
                <a:lnTo>
                  <a:pt x="21600" y="10800"/>
                </a:lnTo>
                <a:lnTo>
                  <a:pt x="16200" y="21600"/>
                </a:lnTo>
                <a:lnTo>
                  <a:pt x="16200" y="16200"/>
                </a:lnTo>
                <a:lnTo>
                  <a:pt x="0" y="16200"/>
                </a:lnTo>
                <a:close/>
              </a:path>
            </a:pathLst>
          </a:custGeom>
          <a:solidFill>
            <a:srgbClr val="000000"/>
          </a:solidFill>
          <a:ln w="0">
            <a:solidFill>
              <a:srgbClr val="000000"/>
            </a:solidFill>
          </a:ln>
        </p:spPr>
        <p:style>
          <a:lnRef idx="0"/>
          <a:fillRef idx="0"/>
          <a:effectRef idx="0"/>
          <a:fontRef idx="minor"/>
        </p:style>
      </p:sp>
      <p:sp>
        <p:nvSpPr>
          <p:cNvPr id="91" name=""/>
          <p:cNvSpPr/>
          <p:nvPr/>
        </p:nvSpPr>
        <p:spPr>
          <a:xfrm>
            <a:off x="8418600" y="13716360"/>
            <a:ext cx="3428280" cy="456480"/>
          </a:xfrm>
          <a:custGeom>
            <a:avLst/>
            <a:gdLst/>
            <a:ahLst/>
            <a:rect l="l" t="t" r="r" b="b"/>
            <a:pathLst>
              <a:path w="21600" h="21600">
                <a:moveTo>
                  <a:pt x="0" y="5400"/>
                </a:moveTo>
                <a:lnTo>
                  <a:pt x="16200" y="5400"/>
                </a:lnTo>
                <a:lnTo>
                  <a:pt x="16200" y="0"/>
                </a:lnTo>
                <a:lnTo>
                  <a:pt x="21600" y="10800"/>
                </a:lnTo>
                <a:lnTo>
                  <a:pt x="16200" y="21600"/>
                </a:lnTo>
                <a:lnTo>
                  <a:pt x="16200" y="16200"/>
                </a:lnTo>
                <a:lnTo>
                  <a:pt x="0" y="16200"/>
                </a:lnTo>
                <a:close/>
              </a:path>
            </a:pathLst>
          </a:custGeom>
          <a:solidFill>
            <a:srgbClr val="000000"/>
          </a:solidFill>
          <a:ln w="0">
            <a:solidFill>
              <a:srgbClr val="000000"/>
            </a:solidFill>
          </a:ln>
        </p:spPr>
        <p:style>
          <a:lnRef idx="0"/>
          <a:fillRef idx="0"/>
          <a:effectRef idx="0"/>
          <a:fontRef idx="minor"/>
        </p:style>
      </p:sp>
      <p:sp>
        <p:nvSpPr>
          <p:cNvPr id="92" name=""/>
          <p:cNvSpPr/>
          <p:nvPr/>
        </p:nvSpPr>
        <p:spPr>
          <a:xfrm>
            <a:off x="1780200" y="16641000"/>
            <a:ext cx="23365080" cy="19126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pPr>
            <a:r>
              <a:rPr b="1" lang="en-US" sz="3200" spc="-1" strike="noStrike">
                <a:solidFill>
                  <a:srgbClr val="000000"/>
                </a:solidFill>
                <a:latin typeface="Arial"/>
                <a:ea typeface="DejaVu Sans"/>
              </a:rPr>
              <a:t>Figure 1:</a:t>
            </a:r>
            <a:r>
              <a:rPr b="0" lang="en-US" sz="3200" spc="-1" strike="noStrike">
                <a:solidFill>
                  <a:srgbClr val="000000"/>
                </a:solidFill>
                <a:latin typeface="Arial"/>
                <a:ea typeface="DejaVu Sans"/>
              </a:rPr>
              <a:t> Enzyme operates on the LLVM intermediate representation generated from ICON's Fortran code, providing forward- and reverse-mode derivatives without requiring separately maintained tangent-linear or adjoint source code. We initially target self-contained physics parameterizations and scalar tuning parameters, allowing us to quantify local parameter sensitivities before extending toward larger coupled model components.</a:t>
            </a:r>
            <a:endParaRPr b="0" lang="en-US" sz="3200" spc="-1" strike="noStrike">
              <a:latin typeface="Arial"/>
            </a:endParaRPr>
          </a:p>
        </p:txBody>
      </p:sp>
      <p:graphicFrame>
        <p:nvGraphicFramePr>
          <p:cNvPr id="93" name=""/>
          <p:cNvGraphicFramePr/>
          <p:nvPr/>
        </p:nvGraphicFramePr>
        <p:xfrm>
          <a:off x="1634040" y="20009160"/>
          <a:ext cx="23511600" cy="3475080"/>
        </p:xfrm>
        <a:graphic>
          <a:graphicData uri="http://schemas.openxmlformats.org/drawingml/2006/table">
            <a:tbl>
              <a:tblPr/>
              <a:tblGrid>
                <a:gridCol w="3736440"/>
                <a:gridCol w="3736440"/>
                <a:gridCol w="9687240"/>
                <a:gridCol w="6351840"/>
              </a:tblGrid>
              <a:tr h="579240">
                <a:tc>
                  <a:txBody>
                    <a:bodyPr lIns="90000" rIns="90000" anchor="t">
                      <a:noAutofit/>
                    </a:bodyPr>
                    <a:p>
                      <a:pPr algn="ctr">
                        <a:lnSpc>
                          <a:spcPct val="100000"/>
                        </a:lnSpc>
                        <a:buNone/>
                      </a:pPr>
                      <a:r>
                        <a:rPr b="1" lang="en-US" sz="3200" spc="-1" strike="noStrike">
                          <a:latin typeface="Arial"/>
                        </a:rPr>
                        <a:t>Scheme</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anchor="t">
                      <a:noAutofit/>
                    </a:bodyPr>
                    <a:p>
                      <a:pPr algn="ctr">
                        <a:lnSpc>
                          <a:spcPct val="100000"/>
                        </a:lnSpc>
                        <a:buNone/>
                      </a:pPr>
                      <a:r>
                        <a:rPr b="1" lang="en-US" sz="3200" spc="-1" strike="noStrike">
                          <a:latin typeface="Arial"/>
                        </a:rPr>
                        <a:t>Parameter</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anchor="t">
                      <a:noAutofit/>
                    </a:bodyPr>
                    <a:p>
                      <a:pPr algn="ctr">
                        <a:lnSpc>
                          <a:spcPct val="100000"/>
                        </a:lnSpc>
                        <a:buNone/>
                      </a:pPr>
                      <a:r>
                        <a:rPr b="1" lang="en-US" sz="3200" spc="-1" strike="noStrike">
                          <a:latin typeface="Arial"/>
                        </a:rPr>
                        <a:t>Meaning</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anchor="t">
                      <a:noAutofit/>
                    </a:bodyPr>
                    <a:p>
                      <a:pPr algn="ctr">
                        <a:lnSpc>
                          <a:spcPct val="100000"/>
                        </a:lnSpc>
                        <a:buNone/>
                      </a:pPr>
                      <a:r>
                        <a:rPr b="1" lang="en-US" sz="3200" spc="-1" strike="noStrike">
                          <a:latin typeface="Arial"/>
                        </a:rPr>
                        <a:t>Nominal value ± range</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579240">
                <a:tc>
                  <a:txBody>
                    <a:bodyPr lIns="90000" rIns="90000" anchor="t">
                      <a:noAutofit/>
                    </a:bodyPr>
                    <a:p>
                      <a:pPr algn="ctr">
                        <a:lnSpc>
                          <a:spcPct val="100000"/>
                        </a:lnSpc>
                        <a:buNone/>
                      </a:pPr>
                      <a:r>
                        <a:rPr b="1" lang="en-US" sz="3200" spc="-1" strike="noStrike">
                          <a:latin typeface="Arial"/>
                        </a:rPr>
                        <a:t>GWD</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3200" spc="-1" strike="noStrike">
                          <a:latin typeface="Arial"/>
                        </a:rPr>
                        <a:t>gfluxlaun</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nSpc>
                          <a:spcPct val="100000"/>
                        </a:lnSpc>
                        <a:buNone/>
                      </a:pPr>
                      <a:r>
                        <a:rPr b="0" lang="en-US" sz="3200" spc="-1" strike="noStrike">
                          <a:latin typeface="Arial"/>
                        </a:rPr>
                        <a:t>Non-orographic gravity-wave launch momentum flux</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3200" spc="-1" strike="noStrike">
                          <a:latin typeface="Arial"/>
                        </a:rPr>
                        <a:t>(2.50 ± 0.75) × 10⁻³ Pa</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579240">
                <a:tc>
                  <a:txBody>
                    <a:bodyPr lIns="90000" rIns="90000" anchor="t">
                      <a:noAutofit/>
                    </a:bodyPr>
                    <a:p>
                      <a:pPr algn="ctr">
                        <a:lnSpc>
                          <a:spcPct val="100000"/>
                        </a:lnSpc>
                        <a:buNone/>
                      </a:pPr>
                      <a:r>
                        <a:rPr b="1" lang="en-US" sz="3200" spc="-1" strike="noStrike">
                          <a:latin typeface="Arial"/>
                        </a:rPr>
                        <a:t>SSO</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3200" spc="-1" strike="noStrike">
                          <a:latin typeface="Arial"/>
                        </a:rPr>
                        <a:t>gkwake</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nSpc>
                          <a:spcPct val="100000"/>
                        </a:lnSpc>
                        <a:buNone/>
                      </a:pPr>
                      <a:r>
                        <a:rPr b="0" lang="en-US" sz="3200" spc="-1" strike="noStrike">
                          <a:latin typeface="Arial"/>
                        </a:rPr>
                        <a:t>Low-level wake drag constant</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3200" spc="-1" strike="noStrike">
                          <a:latin typeface="Arial"/>
                        </a:rPr>
                        <a:t>1.5 ± 0.5</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579240">
                <a:tc>
                  <a:txBody>
                    <a:bodyPr lIns="90000" rIns="90000" anchor="t">
                      <a:noAutofit/>
                    </a:bodyPr>
                    <a:p>
                      <a:pPr algn="ctr">
                        <a:lnSpc>
                          <a:spcPct val="100000"/>
                        </a:lnSpc>
                        <a:buNone/>
                      </a:pPr>
                      <a:r>
                        <a:rPr b="1" lang="en-US" sz="3200" spc="-1" strike="noStrike">
                          <a:latin typeface="Arial"/>
                        </a:rPr>
                        <a:t>SSO</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3200" spc="-1" strike="noStrike">
                          <a:latin typeface="Arial"/>
                        </a:rPr>
                        <a:t>gkdrag</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nSpc>
                          <a:spcPct val="100000"/>
                        </a:lnSpc>
                        <a:buNone/>
                      </a:pPr>
                      <a:r>
                        <a:rPr b="0" lang="en-US" sz="3200" spc="-1" strike="noStrike">
                          <a:latin typeface="Arial"/>
                        </a:rPr>
                        <a:t>Gravity-wave drag constant</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3200" spc="-1" strike="noStrike">
                          <a:latin typeface="Arial"/>
                        </a:rPr>
                        <a:t>0.075 ± 0.04</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579240">
                <a:tc>
                  <a:txBody>
                    <a:bodyPr lIns="90000" rIns="90000" anchor="t">
                      <a:noAutofit/>
                    </a:bodyPr>
                    <a:p>
                      <a:pPr algn="ctr">
                        <a:lnSpc>
                          <a:spcPct val="100000"/>
                        </a:lnSpc>
                        <a:buNone/>
                      </a:pPr>
                      <a:r>
                        <a:rPr b="1" lang="en-US" sz="3200" spc="-1" strike="noStrike">
                          <a:latin typeface="Arial"/>
                        </a:rPr>
                        <a:t>Convection</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3200" spc="-1" strike="noStrike">
                          <a:latin typeface="Arial"/>
                        </a:rPr>
                        <a:t>entrorg</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nSpc>
                          <a:spcPct val="100000"/>
                        </a:lnSpc>
                        <a:buNone/>
                      </a:pPr>
                      <a:r>
                        <a:rPr b="0" lang="en-US" sz="3200" spc="-1" strike="noStrike">
                          <a:latin typeface="Arial"/>
                        </a:rPr>
                        <a:t>Convective entrainment parameter</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3200" spc="-1" strike="noStrike">
                          <a:latin typeface="Arial"/>
                        </a:rPr>
                        <a:t>(1.95 ± 0.20) × 10⁻³</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579240">
                <a:tc>
                  <a:txBody>
                    <a:bodyPr lIns="90000" rIns="90000" anchor="t">
                      <a:noAutofit/>
                    </a:bodyPr>
                    <a:p>
                      <a:pPr algn="ctr">
                        <a:lnSpc>
                          <a:spcPct val="100000"/>
                        </a:lnSpc>
                        <a:buNone/>
                      </a:pPr>
                      <a:r>
                        <a:rPr b="1" lang="en-US" sz="3200" spc="-1" strike="noStrike">
                          <a:latin typeface="Arial"/>
                        </a:rPr>
                        <a:t>Convection</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3200" spc="-1" strike="noStrike">
                          <a:latin typeface="Arial"/>
                        </a:rPr>
                        <a:t>rdepths</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nSpc>
                          <a:spcPct val="100000"/>
                        </a:lnSpc>
                        <a:buNone/>
                      </a:pPr>
                      <a:r>
                        <a:rPr b="0" lang="en-US" sz="3200" spc="-1" strike="noStrike">
                          <a:latin typeface="Arial"/>
                        </a:rPr>
                        <a:t>Maximum shallow-convection depth</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3200" spc="-1" strike="noStrike">
                          <a:latin typeface="Arial"/>
                        </a:rPr>
                        <a:t>(2.0 ± 0.5) × 10⁴ Pa</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bl>
          </a:graphicData>
        </a:graphic>
      </p:graphicFrame>
      <p:sp>
        <p:nvSpPr>
          <p:cNvPr id="94" name=""/>
          <p:cNvSpPr/>
          <p:nvPr/>
        </p:nvSpPr>
        <p:spPr>
          <a:xfrm>
            <a:off x="1780560" y="23877360"/>
            <a:ext cx="23365080" cy="23684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pPr>
            <a:r>
              <a:rPr b="1" lang="en-US" sz="3200" spc="-1" strike="noStrike">
                <a:solidFill>
                  <a:srgbClr val="000000"/>
                </a:solidFill>
                <a:latin typeface="Arial"/>
                <a:ea typeface="DejaVu Sans"/>
              </a:rPr>
              <a:t>Table 1:</a:t>
            </a:r>
            <a:r>
              <a:rPr b="0" lang="en-US" sz="3200" spc="-1" strike="noStrike">
                <a:solidFill>
                  <a:srgbClr val="000000"/>
                </a:solidFill>
                <a:latin typeface="Arial"/>
                <a:ea typeface="DejaVu Sans"/>
              </a:rPr>
              <a:t> We begin with a single scalar parameter in a single physics scheme (e.g., GWD/gfluxlaun) and quantify its impact on the resulting tendency fields. We then extend to multiple parameters within a scheme and eventually to combinations of parameterizations, enabling analysis of parameter interactions and contributions to model tendencies.</a:t>
            </a:r>
            <a:endParaRPr b="0" lang="en-US" sz="3200" spc="-1" strike="noStrike">
              <a:latin typeface="Arial"/>
            </a:endParaRPr>
          </a:p>
          <a:p>
            <a:pPr>
              <a:lnSpc>
                <a:spcPct val="100000"/>
              </a:lnSpc>
              <a:buNone/>
            </a:pPr>
            <a:endParaRPr b="0" lang="en-US" sz="3200" spc="-1" strike="noStrike">
              <a:latin typeface="Arial"/>
            </a:endParaRPr>
          </a:p>
          <a:p>
            <a:pPr>
              <a:lnSpc>
                <a:spcPct val="100000"/>
              </a:lnSpc>
              <a:buNone/>
            </a:pPr>
            <a:endParaRPr b="0" lang="en-US" sz="3200" spc="-1" strike="noStrike">
              <a:latin typeface="Arial"/>
            </a:endParaRPr>
          </a:p>
        </p:txBody>
      </p:sp>
      <p:pic>
        <p:nvPicPr>
          <p:cNvPr id="95" name="" descr=""/>
          <p:cNvPicPr/>
          <p:nvPr/>
        </p:nvPicPr>
        <p:blipFill>
          <a:blip r:embed="rId6"/>
          <a:stretch/>
        </p:blipFill>
        <p:spPr>
          <a:xfrm>
            <a:off x="1816200" y="27552600"/>
            <a:ext cx="3199680" cy="1506240"/>
          </a:xfrm>
          <a:prstGeom prst="rect">
            <a:avLst/>
          </a:prstGeom>
          <a:ln w="0">
            <a:noFill/>
          </a:ln>
        </p:spPr>
      </p:pic>
      <p:pic>
        <p:nvPicPr>
          <p:cNvPr id="96" name="" descr=""/>
          <p:cNvPicPr/>
          <p:nvPr/>
        </p:nvPicPr>
        <p:blipFill>
          <a:blip r:embed="rId7"/>
          <a:stretch/>
        </p:blipFill>
        <p:spPr>
          <a:xfrm>
            <a:off x="9354600" y="27531000"/>
            <a:ext cx="5307840" cy="1550520"/>
          </a:xfrm>
          <a:prstGeom prst="rect">
            <a:avLst/>
          </a:prstGeom>
          <a:ln w="0">
            <a:noFill/>
          </a:ln>
        </p:spPr>
      </p:pic>
      <p:pic>
        <p:nvPicPr>
          <p:cNvPr id="97" name="" descr=""/>
          <p:cNvPicPr/>
          <p:nvPr/>
        </p:nvPicPr>
        <p:blipFill>
          <a:blip r:embed="rId8"/>
          <a:stretch/>
        </p:blipFill>
        <p:spPr>
          <a:xfrm>
            <a:off x="8406000" y="26037360"/>
            <a:ext cx="12132360" cy="891720"/>
          </a:xfrm>
          <a:prstGeom prst="rect">
            <a:avLst/>
          </a:prstGeom>
          <a:ln w="0">
            <a:noFill/>
          </a:ln>
        </p:spPr>
      </p:pic>
      <p:sp>
        <p:nvSpPr>
          <p:cNvPr id="98" name=""/>
          <p:cNvSpPr/>
          <p:nvPr/>
        </p:nvSpPr>
        <p:spPr>
          <a:xfrm>
            <a:off x="5464800" y="28117800"/>
            <a:ext cx="3428280" cy="456480"/>
          </a:xfrm>
          <a:custGeom>
            <a:avLst/>
            <a:gdLst/>
            <a:ahLst/>
            <a:rect l="l" t="t" r="r" b="b"/>
            <a:pathLst>
              <a:path w="21600" h="21600">
                <a:moveTo>
                  <a:pt x="0" y="5400"/>
                </a:moveTo>
                <a:lnTo>
                  <a:pt x="16200" y="5400"/>
                </a:lnTo>
                <a:lnTo>
                  <a:pt x="16200" y="0"/>
                </a:lnTo>
                <a:lnTo>
                  <a:pt x="21600" y="10800"/>
                </a:lnTo>
                <a:lnTo>
                  <a:pt x="16200" y="21600"/>
                </a:lnTo>
                <a:lnTo>
                  <a:pt x="16200" y="16200"/>
                </a:lnTo>
                <a:lnTo>
                  <a:pt x="0" y="16200"/>
                </a:lnTo>
                <a:close/>
              </a:path>
            </a:pathLst>
          </a:custGeom>
          <a:solidFill>
            <a:srgbClr val="000000"/>
          </a:solidFill>
          <a:ln w="0">
            <a:solidFill>
              <a:srgbClr val="000000"/>
            </a:solidFill>
          </a:ln>
        </p:spPr>
        <p:style>
          <a:lnRef idx="0"/>
          <a:fillRef idx="0"/>
          <a:effectRef idx="0"/>
          <a:fontRef idx="minor"/>
        </p:style>
      </p:sp>
      <p:pic>
        <p:nvPicPr>
          <p:cNvPr id="99" name="" descr=""/>
          <p:cNvPicPr/>
          <p:nvPr/>
        </p:nvPicPr>
        <p:blipFill>
          <a:blip r:embed="rId9"/>
          <a:stretch/>
        </p:blipFill>
        <p:spPr>
          <a:xfrm>
            <a:off x="18412200" y="27660600"/>
            <a:ext cx="7092360" cy="1317240"/>
          </a:xfrm>
          <a:prstGeom prst="rect">
            <a:avLst/>
          </a:prstGeom>
          <a:ln w="0">
            <a:noFill/>
          </a:ln>
        </p:spPr>
      </p:pic>
      <p:sp>
        <p:nvSpPr>
          <p:cNvPr id="100" name=""/>
          <p:cNvSpPr/>
          <p:nvPr/>
        </p:nvSpPr>
        <p:spPr>
          <a:xfrm>
            <a:off x="14860800" y="28082160"/>
            <a:ext cx="3428280" cy="456480"/>
          </a:xfrm>
          <a:custGeom>
            <a:avLst/>
            <a:gdLst/>
            <a:ahLst/>
            <a:rect l="l" t="t" r="r" b="b"/>
            <a:pathLst>
              <a:path w="21600" h="21600">
                <a:moveTo>
                  <a:pt x="0" y="5400"/>
                </a:moveTo>
                <a:lnTo>
                  <a:pt x="16200" y="5400"/>
                </a:lnTo>
                <a:lnTo>
                  <a:pt x="16200" y="0"/>
                </a:lnTo>
                <a:lnTo>
                  <a:pt x="21600" y="10800"/>
                </a:lnTo>
                <a:lnTo>
                  <a:pt x="16200" y="21600"/>
                </a:lnTo>
                <a:lnTo>
                  <a:pt x="16200" y="16200"/>
                </a:lnTo>
                <a:lnTo>
                  <a:pt x="0" y="16200"/>
                </a:lnTo>
                <a:close/>
              </a:path>
            </a:pathLst>
          </a:custGeom>
          <a:solidFill>
            <a:srgbClr val="000000"/>
          </a:solidFill>
          <a:ln w="0">
            <a:solidFill>
              <a:srgbClr val="000000"/>
            </a:solidFill>
          </a:ln>
        </p:spPr>
        <p:style>
          <a:lnRef idx="0"/>
          <a:fillRef idx="0"/>
          <a:effectRef idx="0"/>
          <a:fontRef idx="minor"/>
        </p:style>
      </p:sp>
      <p:sp>
        <p:nvSpPr>
          <p:cNvPr id="101" name=""/>
          <p:cNvSpPr/>
          <p:nvPr/>
        </p:nvSpPr>
        <p:spPr>
          <a:xfrm>
            <a:off x="26517600" y="14824800"/>
            <a:ext cx="14858280" cy="8310600"/>
          </a:xfrm>
          <a:prstGeom prst="rect">
            <a:avLst/>
          </a:prstGeom>
          <a:noFill/>
          <a:ln w="0">
            <a:noFill/>
          </a:ln>
        </p:spPr>
        <p:style>
          <a:lnRef idx="0"/>
          <a:fillRef idx="0"/>
          <a:effectRef idx="0"/>
          <a:fontRef idx="minor"/>
        </p:style>
        <p:txBody>
          <a:bodyPr lIns="90000" rIns="90000" tIns="45000" bIns="45000" anchor="t">
            <a:noAutofit/>
          </a:bodyPr>
          <a:p>
            <a:pPr marL="216000" indent="-216000">
              <a:lnSpc>
                <a:spcPct val="100000"/>
              </a:lnSpc>
              <a:buClr>
                <a:srgbClr val="000000"/>
              </a:buClr>
              <a:buSzPct val="45000"/>
              <a:buFont typeface="Wingdings" charset="2"/>
              <a:buChar char=""/>
            </a:pPr>
            <a:r>
              <a:rPr b="1" lang="en-US" sz="3200" spc="-1" strike="noStrike">
                <a:solidFill>
                  <a:srgbClr val="000000"/>
                </a:solidFill>
                <a:latin typeface="Arial"/>
                <a:ea typeface="DejaVu Sans"/>
              </a:rPr>
              <a:t>More Challenges</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solidFill>
                  <a:srgbClr val="000000"/>
                </a:solidFill>
                <a:latin typeface="Arial"/>
                <a:ea typeface="DejaVu Sans"/>
              </a:rPr>
              <a:t>ICON combines large legacy Fortran code with MPI, OpenMP/OpenACC, external libraries and complex build infrastructure.</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solidFill>
                  <a:srgbClr val="000000"/>
                </a:solidFill>
                <a:latin typeface="Arial"/>
                <a:ea typeface="DejaVu Sans"/>
              </a:rPr>
              <a:t>Enzyme has demonstrated differentiation of parallel constructs, but scaling these capabilities to ICON's Fortran implementation requires validation.</a:t>
            </a:r>
            <a:endParaRPr b="0" lang="en-US" sz="3200" spc="-1" strike="noStrike">
              <a:latin typeface="Arial"/>
            </a:endParaRPr>
          </a:p>
          <a:p>
            <a:pPr>
              <a:lnSpc>
                <a:spcPct val="100000"/>
              </a:lnSpc>
              <a:buNone/>
            </a:pPr>
            <a:endParaRPr b="0" lang="en-US" sz="3200" spc="-1" strike="noStrike">
              <a:latin typeface="Arial"/>
            </a:endParaRPr>
          </a:p>
          <a:p>
            <a:pPr>
              <a:lnSpc>
                <a:spcPct val="100000"/>
              </a:lnSpc>
              <a:buNone/>
            </a:pPr>
            <a:endParaRPr b="0" lang="en-US" sz="3200" spc="-1" strike="noStrike">
              <a:latin typeface="Arial"/>
            </a:endParaRPr>
          </a:p>
          <a:p>
            <a:pPr marL="216000" indent="-216000">
              <a:lnSpc>
                <a:spcPct val="100000"/>
              </a:lnSpc>
              <a:buClr>
                <a:srgbClr val="000000"/>
              </a:buClr>
              <a:buSzPct val="45000"/>
              <a:buFont typeface="Wingdings" charset="2"/>
              <a:buChar char=""/>
            </a:pPr>
            <a:r>
              <a:rPr b="1" lang="en-US" sz="3200" spc="-1" strike="noStrike">
                <a:solidFill>
                  <a:srgbClr val="000000"/>
                </a:solidFill>
                <a:latin typeface="Arial"/>
                <a:ea typeface="DejaVu Sans"/>
              </a:rPr>
              <a:t>Outlook</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solidFill>
                  <a:srgbClr val="000000"/>
                </a:solidFill>
                <a:latin typeface="Arial"/>
                <a:ea typeface="DejaVu Sans"/>
              </a:rPr>
              <a:t>From ICON to other ESMs: Establish a general workflow for compiler-based AD of large-scale Fortran models.</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solidFill>
                  <a:srgbClr val="000000"/>
                </a:solidFill>
                <a:latin typeface="Arial"/>
                <a:ea typeface="DejaVu Sans"/>
              </a:rPr>
              <a:t>Transferability: Potential pathway to models such as MITgcm, WRF, and CESM.</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solidFill>
                  <a:srgbClr val="000000"/>
                </a:solidFill>
                <a:latin typeface="Arial"/>
                <a:ea typeface="DejaVu Sans"/>
              </a:rPr>
              <a:t>Scientific calibration: Extend from local parameter sensitivities to systematic model calibration.</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solidFill>
                  <a:srgbClr val="000000"/>
                </a:solidFill>
                <a:latin typeface="Arial"/>
                <a:ea typeface="DejaVu Sans"/>
              </a:rPr>
              <a:t>ML–physics coupling: Enable future online optimization of machine-learning parameterizations within the ESM.</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solidFill>
                  <a:srgbClr val="000000"/>
                </a:solidFill>
                <a:latin typeface="Arial"/>
                <a:ea typeface="DejaVu Sans"/>
              </a:rPr>
              <a:t>Long-term vision: Differentiable Earth-system modelling from the surface to the upper atmosphere.</a:t>
            </a:r>
            <a:endParaRPr b="0" lang="en-US" sz="3200" spc="-1" strike="noStrike">
              <a:latin typeface="Arial"/>
            </a:endParaRPr>
          </a:p>
          <a:p>
            <a:pPr>
              <a:lnSpc>
                <a:spcPct val="100000"/>
              </a:lnSpc>
              <a:buNone/>
            </a:pPr>
            <a:endParaRPr b="0" lang="en-US" sz="32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197</TotalTime>
  <Application>LibreOffice/7.3.7.2$Linux_X86_64 LibreOffice_project/30$Build-2</Application>
  <AppVersion>15.0000</AppVersion>
  <Words>11</Words>
  <Paragraphs>10</Paragraphs>
  <Company>IAP-KBORN</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2002-07-24T12:10:23Z</dcterms:created>
  <dc:creator>kd006</dc:creator>
  <dc:description/>
  <dc:language>en-US</dc:language>
  <cp:lastModifiedBy>Jared Frazier</cp:lastModifiedBy>
  <cp:lastPrinted>2014-07-08T08:19:32Z</cp:lastPrinted>
  <dcterms:modified xsi:type="dcterms:W3CDTF">2026-08-14T13:00:31Z</dcterms:modified>
  <cp:revision>167</cp:revision>
  <dc:subject/>
  <dc:title>Test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Benutzerdefiniert</vt:lpwstr>
  </property>
  <property fmtid="{D5CDD505-2E9C-101B-9397-08002B2CF9AE}" pid="4" name="Slides">
    <vt:i4>1</vt:i4>
  </property>
</Properties>
</file>