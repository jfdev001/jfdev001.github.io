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jpeg" ContentType="image/jpeg"/>
  <Override PartName="/ppt/media/image3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</p:sldIdLst>
  <p:sldSz cx="41405175" cy="30275213"/>
  <p:notesSz cx="9928225" cy="679767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FEDF889-C09E-44AC-9D92-3EBDBE747D7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sldNum" idx="40"/>
          </p:nvPr>
        </p:nvSpPr>
        <p:spPr>
          <a:xfrm>
            <a:off x="5622480" y="6456240"/>
            <a:ext cx="430380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3320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 defTabSz="913320">
              <a:lnSpc>
                <a:spcPct val="100000"/>
              </a:lnSpc>
              <a:buNone/>
              <a:tabLst>
                <a:tab algn="l" pos="0"/>
              </a:tabLst>
            </a:pPr>
            <a:fld id="{400A0665-6CD3-48C4-AB43-CD9867AE5821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Img"/>
          </p:nvPr>
        </p:nvSpPr>
        <p:spPr>
          <a:xfrm>
            <a:off x="3224160" y="509760"/>
            <a:ext cx="3483720" cy="254736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992520" y="3229200"/>
            <a:ext cx="7942320" cy="305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96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2070000" y="7084080"/>
            <a:ext cx="3726396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F52E32-7705-495D-B800-1804741106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B6FBE7-DBA2-470C-B6A8-52A70CC743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C502A24-C4DC-4348-862C-114F2E9FEC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0F73C32-3D6A-4B79-AB38-75FB95B6D1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96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2070000" y="7084080"/>
            <a:ext cx="3726396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7706DC0-1FDB-46E3-844D-91C32E5561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0DCB26-4AD2-486C-91ED-4A8A2C249D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96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070000" y="7084080"/>
            <a:ext cx="1818468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21164400" y="7084080"/>
            <a:ext cx="1818468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F638CEE-BE35-4E97-BC91-ABB6392A38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DDE0F49-E906-4D63-8A98-BBF8B1E9A9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96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3EE5F9B-AAEF-43D3-B6A1-CF55EBA3B1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3246811-045E-4584-BC3E-4053848780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E9F9429-963D-436F-B008-AB72E71295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6A85C51-ACC3-4B0C-BC93-5987FF6539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60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421E81FD-B2C1-4D47-832F-BC816A2947D5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1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13707522-9D11-4C24-A3DF-D17B8AB4D4FA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16010550-8845-4F64-BC9D-0594751A7813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10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11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4A0FE1D7-67CB-4245-88D0-47D550C077BF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2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96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2070000" y="7084080"/>
            <a:ext cx="3726396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60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102120" y="2693160"/>
            <a:ext cx="3520044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24907D9D-686F-4E20-8C9D-5EAAEEA236A9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0FBF7E97-4174-4273-B19C-AD2FA5EF71A2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60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02120" y="2693160"/>
            <a:ext cx="1717740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21139200" y="2693160"/>
            <a:ext cx="1717740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618C3C0C-D903-41E2-B561-14D3FE785153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4290ADED-D35E-407B-B321-882C080419AA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2070000" y="1207800"/>
            <a:ext cx="3726360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FB7EAED9-8370-44D1-93FF-3459E976CEF5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AC959F5D-4DA0-4741-9D4A-7D802614DAEA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B1800907-D3F8-471A-81C5-1666A2C2D56A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34"/>
          </p:nvPr>
        </p:nvSpPr>
        <p:spPr>
          <a:xfrm>
            <a:off x="14146200" y="27581760"/>
            <a:ext cx="1311192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35"/>
          </p:nvPr>
        </p:nvSpPr>
        <p:spPr>
          <a:xfrm>
            <a:off x="2967840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97720">
              <a:lnSpc>
                <a:spcPct val="100000"/>
              </a:lnSpc>
              <a:buNone/>
              <a:tabLst>
                <a:tab algn="l" pos="0"/>
              </a:tabLst>
              <a:defRPr b="0" lang="de-DE" sz="613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97720">
              <a:lnSpc>
                <a:spcPct val="100000"/>
              </a:lnSpc>
              <a:buNone/>
              <a:tabLst>
                <a:tab algn="l" pos="0"/>
              </a:tabLst>
            </a:pPr>
            <a:fld id="{D6C2001E-2F1B-4948-BC0F-424D5B06EA3C}" type="slidenum">
              <a:rPr b="0" lang="de-DE" sz="613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36"/>
          </p:nvPr>
        </p:nvSpPr>
        <p:spPr>
          <a:xfrm>
            <a:off x="3102120" y="27581760"/>
            <a:ext cx="862416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36"/>
          <p:cNvSpPr/>
          <p:nvPr/>
        </p:nvSpPr>
        <p:spPr>
          <a:xfrm>
            <a:off x="405720" y="4423320"/>
            <a:ext cx="13310280" cy="24837480"/>
          </a:xfrm>
          <a:prstGeom prst="rect">
            <a:avLst/>
          </a:prstGeom>
          <a:noFill/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291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Text Box 32"/>
          <p:cNvSpPr/>
          <p:nvPr/>
        </p:nvSpPr>
        <p:spPr>
          <a:xfrm>
            <a:off x="7293960" y="858240"/>
            <a:ext cx="2690820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4240" rIns="84240" tIns="42120" bIns="42120" anchor="t">
            <a:spAutoFit/>
          </a:bodyPr>
          <a:p>
            <a:pPr algn="ctr" defTabSz="40719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8420" spc="-1" strike="noStrike">
                <a:solidFill>
                  <a:srgbClr val="264796"/>
                </a:solidFill>
                <a:latin typeface="Calibri"/>
              </a:rPr>
              <a:t>Towards Enzyme-based AD for Tuning the ICON-XPP Model</a:t>
            </a:r>
            <a:endParaRPr b="0" lang="en-US" sz="8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Box 35"/>
          <p:cNvSpPr/>
          <p:nvPr/>
        </p:nvSpPr>
        <p:spPr>
          <a:xfrm>
            <a:off x="7398360" y="2760120"/>
            <a:ext cx="2671380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4240" rIns="84240" tIns="42120" bIns="42120" anchor="t">
            <a:spAutoFit/>
          </a:bodyPr>
          <a:p>
            <a:pPr algn="ctr" defTabSz="4071960">
              <a:lnSpc>
                <a:spcPct val="100000"/>
              </a:lnSpc>
            </a:pPr>
            <a:r>
              <a:rPr b="0" lang="de-DE" sz="3440" spc="-1" strike="noStrike">
                <a:solidFill>
                  <a:srgbClr val="264796"/>
                </a:solidFill>
                <a:latin typeface="Calibri"/>
              </a:rPr>
              <a:t>J. Frazier, V. Venugopal, C.C. Stephan</a:t>
            </a:r>
            <a:endParaRPr b="0" lang="en-US" sz="3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Rectangle 40"/>
          <p:cNvSpPr/>
          <p:nvPr/>
        </p:nvSpPr>
        <p:spPr>
          <a:xfrm>
            <a:off x="27529200" y="26488440"/>
            <a:ext cx="13151160" cy="2700360"/>
          </a:xfrm>
          <a:prstGeom prst="rect">
            <a:avLst/>
          </a:prstGeom>
          <a:solidFill>
            <a:srgbClr val="d9d9d9">
              <a:alpha val="95000"/>
            </a:srgbClr>
          </a:solidFill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87480" rIns="87480" tIns="43920" bIns="43920" anchor="t">
            <a:noAutofit/>
          </a:bodyPr>
          <a:p>
            <a:pPr marL="458640" indent="-458640" defTabSz="4071960">
              <a:lnSpc>
                <a:spcPct val="100000"/>
              </a:lnSpc>
              <a:tabLst>
                <a:tab algn="l" pos="0"/>
              </a:tabLst>
            </a:pPr>
            <a:endParaRPr b="0" lang="de-DE" sz="291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3" name="Picture 13044" descr=""/>
          <p:cNvPicPr/>
          <p:nvPr/>
        </p:nvPicPr>
        <p:blipFill>
          <a:blip r:embed="rId1"/>
          <a:stretch/>
        </p:blipFill>
        <p:spPr>
          <a:xfrm>
            <a:off x="746280" y="4698360"/>
            <a:ext cx="12512520" cy="550440"/>
          </a:xfrm>
          <a:prstGeom prst="rect">
            <a:avLst/>
          </a:prstGeom>
          <a:ln w="0">
            <a:noFill/>
          </a:ln>
        </p:spPr>
      </p:pic>
      <p:pic>
        <p:nvPicPr>
          <p:cNvPr id="64" name="Picture 13044" descr=""/>
          <p:cNvPicPr/>
          <p:nvPr/>
        </p:nvPicPr>
        <p:blipFill>
          <a:blip r:embed="rId2"/>
          <a:stretch/>
        </p:blipFill>
        <p:spPr>
          <a:xfrm>
            <a:off x="27685800" y="26678160"/>
            <a:ext cx="12782520" cy="472320"/>
          </a:xfrm>
          <a:prstGeom prst="rect">
            <a:avLst/>
          </a:prstGeom>
          <a:ln w="0">
            <a:noFill/>
          </a:ln>
        </p:spPr>
      </p:pic>
      <p:sp>
        <p:nvSpPr>
          <p:cNvPr id="65" name="Text Box 223"/>
          <p:cNvSpPr/>
          <p:nvPr/>
        </p:nvSpPr>
        <p:spPr>
          <a:xfrm>
            <a:off x="27757800" y="26641080"/>
            <a:ext cx="125467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7480" rIns="87480" tIns="43920" bIns="43920" anchor="t">
            <a:spAutoFit/>
          </a:bodyPr>
          <a:p>
            <a:pPr algn="ctr" defTabSz="4071960">
              <a:lnSpc>
                <a:spcPct val="100000"/>
              </a:lnSpc>
            </a:pPr>
            <a:r>
              <a:rPr b="1" lang="de-DE" sz="3000" spc="-1" strike="noStrike">
                <a:solidFill>
                  <a:schemeClr val="lt1"/>
                </a:solidFill>
                <a:latin typeface="Calibri"/>
              </a:rPr>
              <a:t>References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feld 7"/>
          <p:cNvSpPr/>
          <p:nvPr/>
        </p:nvSpPr>
        <p:spPr>
          <a:xfrm>
            <a:off x="746280" y="4636440"/>
            <a:ext cx="125125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Motivation</a:t>
            </a:r>
            <a:endParaRPr b="0" lang="en-US" sz="348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7" name="Gerade Verbindung 2"/>
          <p:cNvCxnSpPr/>
          <p:nvPr/>
        </p:nvCxnSpPr>
        <p:spPr>
          <a:xfrm flipV="1">
            <a:off x="363600" y="3992760"/>
            <a:ext cx="40678200" cy="39600"/>
          </a:xfrm>
          <a:prstGeom prst="straightConnector1">
            <a:avLst/>
          </a:prstGeom>
          <a:ln w="101600">
            <a:solidFill>
              <a:srgbClr val="264796"/>
            </a:solidFill>
            <a:round/>
          </a:ln>
        </p:spPr>
      </p:cxnSp>
      <p:pic>
        <p:nvPicPr>
          <p:cNvPr id="68" name="Picture 5" descr=""/>
          <p:cNvPicPr/>
          <p:nvPr/>
        </p:nvPicPr>
        <p:blipFill>
          <a:blip r:embed="rId3"/>
          <a:srcRect l="0" t="7161" r="0" b="6779"/>
          <a:stretch/>
        </p:blipFill>
        <p:spPr>
          <a:xfrm>
            <a:off x="37942200" y="1241280"/>
            <a:ext cx="3109320" cy="2193120"/>
          </a:xfrm>
          <a:prstGeom prst="rect">
            <a:avLst/>
          </a:prstGeom>
          <a:ln w="0">
            <a:noFill/>
          </a:ln>
        </p:spPr>
      </p:pic>
      <p:pic>
        <p:nvPicPr>
          <p:cNvPr id="69" name="Picture 4" descr=""/>
          <p:cNvPicPr/>
          <p:nvPr/>
        </p:nvPicPr>
        <p:blipFill>
          <a:blip r:embed="rId4"/>
          <a:stretch/>
        </p:blipFill>
        <p:spPr>
          <a:xfrm>
            <a:off x="406080" y="893520"/>
            <a:ext cx="5966280" cy="2193120"/>
          </a:xfrm>
          <a:prstGeom prst="rect">
            <a:avLst/>
          </a:prstGeom>
          <a:ln w="0">
            <a:noFill/>
          </a:ln>
        </p:spPr>
      </p:pic>
      <p:sp>
        <p:nvSpPr>
          <p:cNvPr id="70" name="Textfeld 27331"/>
          <p:cNvSpPr/>
          <p:nvPr/>
        </p:nvSpPr>
        <p:spPr>
          <a:xfrm>
            <a:off x="27660600" y="27264960"/>
            <a:ext cx="1232496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chemeClr val="dk1"/>
                </a:solidFill>
                <a:latin typeface="Calibri"/>
              </a:rPr>
              <a:t>* add differentiating esms here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chemeClr val="dk1"/>
                </a:solidFill>
                <a:latin typeface="Calibri"/>
              </a:rPr>
              <a:t>* add icon tunable parameters reference here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chemeClr val="dk1"/>
                </a:solidFill>
                <a:latin typeface="Calibri"/>
              </a:rPr>
              <a:t>* add ICON XPP papers if necessary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chemeClr val="dk1"/>
                </a:solidFill>
                <a:latin typeface="Calibri"/>
              </a:rPr>
              <a:t>* add Enzyme papers if necessary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feld 22"/>
          <p:cNvSpPr/>
          <p:nvPr/>
        </p:nvSpPr>
        <p:spPr>
          <a:xfrm>
            <a:off x="25653600" y="22271760"/>
            <a:ext cx="14997600" cy="21006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feld 22"/>
          <p:cNvSpPr/>
          <p:nvPr/>
        </p:nvSpPr>
        <p:spPr>
          <a:xfrm>
            <a:off x="25653600" y="24478920"/>
            <a:ext cx="14997600" cy="1552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1"/>
          <p:cNvSpPr/>
          <p:nvPr/>
        </p:nvSpPr>
        <p:spPr>
          <a:xfrm>
            <a:off x="13869720" y="4423320"/>
            <a:ext cx="13310280" cy="24837480"/>
          </a:xfrm>
          <a:prstGeom prst="rect">
            <a:avLst/>
          </a:prstGeom>
          <a:noFill/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de-DE" sz="291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4" name="Picture 1" descr=""/>
          <p:cNvPicPr/>
          <p:nvPr/>
        </p:nvPicPr>
        <p:blipFill>
          <a:blip r:embed="rId5"/>
          <a:stretch/>
        </p:blipFill>
        <p:spPr>
          <a:xfrm>
            <a:off x="13994280" y="4698360"/>
            <a:ext cx="12512520" cy="550440"/>
          </a:xfrm>
          <a:prstGeom prst="rect">
            <a:avLst/>
          </a:prstGeom>
          <a:ln w="0">
            <a:noFill/>
          </a:ln>
        </p:spPr>
      </p:pic>
      <p:sp>
        <p:nvSpPr>
          <p:cNvPr id="75" name="Textfeld 1"/>
          <p:cNvSpPr/>
          <p:nvPr/>
        </p:nvSpPr>
        <p:spPr>
          <a:xfrm>
            <a:off x="13994280" y="4636440"/>
            <a:ext cx="125125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Approach</a:t>
            </a:r>
            <a:endParaRPr b="0" lang="en-US" sz="3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27455400" y="4423320"/>
            <a:ext cx="13310280" cy="24837480"/>
          </a:xfrm>
          <a:prstGeom prst="rect">
            <a:avLst/>
          </a:prstGeom>
          <a:noFill/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de-DE" sz="291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7" name="Picture 2" descr=""/>
          <p:cNvPicPr/>
          <p:nvPr/>
        </p:nvPicPr>
        <p:blipFill>
          <a:blip r:embed="rId6"/>
          <a:stretch/>
        </p:blipFill>
        <p:spPr>
          <a:xfrm>
            <a:off x="27831960" y="4698360"/>
            <a:ext cx="12512520" cy="550440"/>
          </a:xfrm>
          <a:prstGeom prst="rect">
            <a:avLst/>
          </a:prstGeom>
          <a:ln w="0">
            <a:noFill/>
          </a:ln>
        </p:spPr>
      </p:pic>
      <p:sp>
        <p:nvSpPr>
          <p:cNvPr id="78" name="Textfeld 2"/>
          <p:cNvSpPr/>
          <p:nvPr/>
        </p:nvSpPr>
        <p:spPr>
          <a:xfrm>
            <a:off x="27867960" y="4636440"/>
            <a:ext cx="125125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T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e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c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h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n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i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c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a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l 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C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h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a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ll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e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n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g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e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s 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a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n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d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S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o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l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u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t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i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o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n</a:t>
            </a:r>
            <a:r>
              <a:rPr b="1" lang="de-DE" sz="3480" spc="-1" strike="noStrike">
                <a:solidFill>
                  <a:schemeClr val="lt1"/>
                </a:solidFill>
                <a:latin typeface="Calibri"/>
              </a:rPr>
              <a:t>s</a:t>
            </a:r>
            <a:endParaRPr b="0" lang="en-US" sz="34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LibreOffice/24.2.7.2$Linux_X86_64 LibreOffice_project/420$Build-2</Application>
  <AppVersion>15.0000</AppVersion>
  <Words>2284</Words>
  <Paragraphs>192</Paragraphs>
  <Company>IAP-KBORN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2002-07-24T12:10:23Z</dcterms:created>
  <dc:creator>kd006</dc:creator>
  <dc:description/>
  <dc:language>en-US</dc:language>
  <cp:lastModifiedBy/>
  <cp:lastPrinted>2014-07-08T08:19:32Z</cp:lastPrinted>
  <dcterms:modified xsi:type="dcterms:W3CDTF">2026-08-07T12:14:42Z</dcterms:modified>
  <cp:revision>160</cp:revision>
  <dc:subject/>
  <dc:title>Test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</vt:i4>
  </property>
</Properties>
</file>